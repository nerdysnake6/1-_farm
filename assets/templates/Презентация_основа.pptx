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8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0:00–0:30. Тема проекта — информационная система «Молочная ферма Луговая» на учебной платформе 1С:Предприятие 8.3.27.1688 для macOS. Система учитывает поступление и продажу готовой молочной продукции. Основные товары — молоко, творог и сметана. Цель — видеть остаток на складе и оформлять документы без ручного пересчёта. Учет животных и производство в этот проект не входят. Источник: configuration/Configuration.xml. Обложка содержит учебное изображение assets/milk.png, созданное ImageGen.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0:30–1:15. В системе две подсистемы — Покупка и Продажа. Есть документы Приход и Расход, пять справочников: Номенклатура, Покупатели, Поставщики, Организации и Склады. Цены хранятся в регистре сведений по дням. Количество продукции на складе хранится в регистре накопления. Два отчета показывают остатки и продажи. Предусмотрены три роли: Покупка, Продажа и Полные права. В версии 1.1.1 каждый раздел открывает свою страницу с кнопками. Источник: метаданные каталога configuration/.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1:15–2:00. Это демонстрационный сценарий. На склад поступили 100 литров молока, 20 килограммов творога и 15 килограммов сметаны. После продажи 25, 5 и 3 единиц соответственно осталось 75 литров молока, 15 килограммов творога и 12 килограммов сметаны. При ценах 90, 360 и 280 рублей сумма продажи равна 4890 рублям. Система отклоняет продажу сверх остатка. Цифры относятся к вымышленным учебным данным. Источники: scripts/bsl/СервисФермы.bsl, docs/runtime-tests.txt.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2:00–2:45. На слайде настоящий скриншот общего рабочего стола, который открывается при запуске. Кнопки позволяют оформить приход или продажу, открыть журналы документов, карточки продукции, цены и отчеты. Для рабочих ролей набор операций ограничен правами. В оформлении использованы зелёные действия на светлом фоне, текст остаётся контрастным. У каждой позиции номенклатуры есть фотография, которая хранится в базе и выводится в карточке. Изображения продукции созданы для учебного проекта. Скриншот предоставил пользователь 22.10.2026: codex-clipboard-155afe8b-4ba6-493c-aa49-1f20961e9af1.png. Обрезаны внешние панели, содержимое формы не менялось. На снимке общий рабочий стол версии 1.1, сохраненный в версии 1.1.1. Специализированные страницы разделов на снимке не показаны.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2:45–3:40. Фрагмент настоящего отчёта показывает те же остатки: молоко 75, творог 15, сметана 12. Единицы измерения указаны в таблице предыдущего примера. Проверили бизнес-логику, формы и права пользователей: 21 плюс 10 плюс 14, всего 45 автоматических проверок. Все прошли. Среди сценариев — недостаток товара, неверные данные, повторное проведение, отмена проведения, фотографии и переходы из форм. Проверка конфигурации платформой ошибок не обнаружила. Автоматические тесты вызывают формы и команды программно, клики мышью по панели разделов не автоматизированы. Источники: docs/runtime-tests.txt, docs/form-tests.txt, docs/role-Покупка.txt, docs/role-Продажа.txt. Скриншот пользователя codex-clipboard-ec4bf126-ce82-44f2-b21a-f42053423184.png показывает результат отчета ранней версии. Его значения совпадают с проверенными демонстрационными данными 1.1.1. Показан неизмененный фрагмент результата, без устаревших полей 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3:40–4:30. В Agile важны люди и взаимодействие, работающий продукт, сотрудничество с заказчиком и готовность к изменениям. В проекте это видно по доработкам после обратной связи: появились кнопки, фильтры отчетов, затем более простой переход между разделами. Работающая база позволяет проверять результат после изменений. Это пример применения идей Agile в проекте, а не утверждение о проведенных командой формальных спринтах. Четыре ценности и двенадцать принципов разобраны в отдельной документации. К проекту подготовлены инструкция пользователя и протокол тестирования. В дальнейшем можно добавить партии и сроки годности. Источники: docs/Agile.md, docs/Изменения_v1.1.md, docs/Исправление_навигации_v1.1.1.md, https://agilemanifesto.org/iso/ru/manifesto.html, https://agilemanifesto.org/iso/ru/principles.html.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219E125-ABD3-4F19-B720-6A7CAB37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65E8762-4B5D-44B7-87B7-86B00A2D4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C4AAB8A-3C42-41AB-AA23-FA66F466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EDE1535-EA71-4ACB-B24D-F1EDC200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85A3065-DC42-46E1-97C9-27303966A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41EA29E-E9E0-488C-B41C-2C56314F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BE922BF-8AC2-406C-9096-DAE8BFA70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72BB2C6-3729-4630-BC43-5C8D2428797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D59D865-9BB1-4835-A626-50DB428D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3A6F135-0427-4DC4-92FF-B5F1F270E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FFD9852-5CE7-4096-A72A-0AB1EB29123E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МОЛОЧНАЯ ФЕРМА  /  УЧЕБНЫЙ ПРОЕКТ 1С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D02A56-0CDF-4F7E-B930-7A44B542EFCD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20382C"/>
                </a:solidFill>
                <a:latin typeface="Arial"/>
                <a:ea typeface="Arial"/>
                <a:cs typeface="Arial"/>
              </a:rPr>
              <a:t>Молочная</a:t>
            </a:r>
            <a:r>
              <a:rPr sz="3600" b="1" dirty="0">
                <a:solidFill>
                  <a:srgbClr val="20382C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20382C"/>
                </a:solidFill>
                <a:latin typeface="Arial"/>
                <a:ea typeface="Arial"/>
                <a:cs typeface="Arial"/>
              </a:rPr>
              <a:t>ферма</a:t>
            </a:r>
            <a:endParaRPr sz="3600" b="1" dirty="0">
              <a:solidFill>
                <a:srgbClr val="20382C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20382C"/>
                </a:solidFill>
                <a:latin typeface="Arial"/>
                <a:ea typeface="Arial"/>
                <a:cs typeface="Arial"/>
              </a:rPr>
              <a:t>Луговая</a:t>
            </a:r>
            <a:endParaRPr sz="3600" b="1" dirty="0">
              <a:solidFill>
                <a:srgbClr val="20382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549CE9-E8B2-4A8F-A4CA-CE537EA5145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9BCBA1-E802-4401-8214-BB6982CE3F04}"/>
              </a:ext>
            </a:extLst>
          </p:cNvPr>
          <p:cNvSpPr>
            <a:spLocks noGrp="1"/>
          </p:cNvSpPr>
          <p:nvPr/>
        </p:nvSpPr>
        <p:spPr>
          <a:xfrm>
            <a:off x="714375" y="2857500"/>
            <a:ext cx="552450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Поступление, продажа и остатки</a:t>
            </a:r>
          </a:p>
          <a:p>
            <a:pPr>
              <a:buNone/>
              <a:defRPr sz="240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молока, творога и сметаны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DA74A3-89F6-43E4-9E26-6E28DDB230BE}"/>
              </a:ext>
            </a:extLst>
          </p:cNvPr>
          <p:cNvSpPr>
            <a:spLocks noGrp="1"/>
          </p:cNvSpPr>
          <p:nvPr/>
        </p:nvSpPr>
        <p:spPr>
          <a:xfrm>
            <a:off x="714375" y="4810125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F6D63"/>
                </a:solidFill>
                <a:latin typeface="Arial"/>
                <a:ea typeface="Arial"/>
                <a:cs typeface="Arial"/>
              </a:rPr>
              <a:t>1С:Предприятие</a:t>
            </a:r>
            <a:r>
              <a:rPr lang="ru-RU" sz="1725" b="0" dirty="0">
                <a:solidFill>
                  <a:srgbClr val="5F6D63"/>
                </a:solidFill>
                <a:latin typeface="Arial"/>
                <a:ea typeface="Arial"/>
                <a:cs typeface="Arial"/>
              </a:rPr>
              <a:t> 8.3</a:t>
            </a:r>
            <a:endParaRPr sz="1725" b="0" dirty="0">
              <a:solidFill>
                <a:srgbClr val="5F6D6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endParaRPr sz="1725" b="0" dirty="0">
              <a:solidFill>
                <a:srgbClr val="5F6D6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DC8B49-9FD7-4CE8-9EF8-3C4C45F66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05625" y="14763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5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A39DC1B-14F7-4456-AC8B-E56593B8EEB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МОЛОЧНАЯ ФЕРМА  /  УЧЕБНЫЙ ПРОЕКТ 1С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957A0E-5F1F-489D-BEE6-F6431BD84B55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2C"/>
                </a:solidFill>
                <a:latin typeface="Arial"/>
                <a:ea typeface="Arial"/>
                <a:cs typeface="Arial"/>
              </a:rPr>
              <a:t>Структура конфигурации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CC628D-9A10-4B23-8842-15E86DE5164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5DA651-2AD9-400B-A274-603D0892E7F0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Покупка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F3DA64-E819-44C3-A691-8B4C7F5426DE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4762500" cy="1905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Приход продукции</a:t>
            </a:r>
          </a:p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Номенклатура и поставщики</a:t>
            </a:r>
          </a:p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Организации и склады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B0A7EE-CBA0-496A-AD1F-92E0E1050D5B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Продажа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59F7EC4-1AC0-4826-A669-5A74EC49E0F5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4762500" cy="1905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Расход продукции</a:t>
            </a:r>
          </a:p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Покупатели</a:t>
            </a:r>
          </a:p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Отчёты по остаткам и продажам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B46A55-13F0-4846-A26A-36ECA351A94C}"/>
              </a:ext>
            </a:extLst>
          </p:cNvPr>
          <p:cNvSpPr>
            <a:spLocks noGrp="1"/>
          </p:cNvSpPr>
          <p:nvPr/>
        </p:nvSpPr>
        <p:spPr>
          <a:xfrm>
            <a:off x="714375" y="52863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Регистр сведений «Цены» и регистр накопления остатков</a:t>
            </a:r>
          </a:p>
          <a:p>
            <a:pPr>
              <a:buNone/>
              <a:defRPr sz="195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Роли: Покупка, Продажа, Полные права</a:t>
            </a:r>
          </a:p>
        </p:txBody>
      </p:sp>
    </p:spTree>
    <p:extLst>
      <p:ext uri="{BB962C8B-B14F-4D97-AF65-F5344CB8AC3E}">
        <p14:creationId xmlns:p14="http://schemas.microsoft.com/office/powerpoint/2010/main" val="146329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309DA2-C86B-4DB7-A55A-E2761BF9CF5E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МОЛОЧНАЯ ФЕРМА  /  УЧЕБНЫЙ ПРОЕКТ 1С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C85AF8-E68B-48B5-8225-BBC3462ED926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2C"/>
                </a:solidFill>
                <a:latin typeface="Arial"/>
                <a:ea typeface="Arial"/>
                <a:cs typeface="Arial"/>
              </a:rPr>
              <a:t>Пример учёта продукции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14D19A-7BFF-45BC-9E20-EDF32FF5F915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4E6F60E-D4FE-4AB2-BFEC-3F767DAFE2A4}"/>
              </a:ext>
            </a:extLst>
          </p:cNvPr>
          <p:cNvGraphicFramePr/>
          <p:nvPr/>
        </p:nvGraphicFramePr>
        <p:xfrm>
          <a:off x="714375" y="2190750"/>
          <a:ext cx="10715625" cy="2476500"/>
        </p:xfrm>
        <a:graphic>
          <a:graphicData uri="http://schemas.openxmlformats.org/drawingml/2006/table">
            <a:tbl>
              <a:tblPr/>
              <a:tblGrid>
                <a:gridCol w="41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Продукция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Приход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Продажа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Остаток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2F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Молоко, л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Творог, кг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Сметана, кг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038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A3257A-FFC5-4098-A268-C376BDB5B940}"/>
              </a:ext>
            </a:extLst>
          </p:cNvPr>
          <p:cNvSpPr>
            <a:spLocks noGrp="1"/>
          </p:cNvSpPr>
          <p:nvPr/>
        </p:nvSpPr>
        <p:spPr>
          <a:xfrm>
            <a:off x="714375" y="5095875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8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Продажа на 4 890 руб.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1927FF5-2A3A-4F2F-826C-831EB4D7483D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Продажу 76 л молока при остатке 75 л система отклоняет</a:t>
            </a:r>
          </a:p>
        </p:txBody>
      </p:sp>
    </p:spTree>
    <p:extLst>
      <p:ext uri="{BB962C8B-B14F-4D97-AF65-F5344CB8AC3E}">
        <p14:creationId xmlns:p14="http://schemas.microsoft.com/office/powerpoint/2010/main" val="159371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978924-14A6-4765-ABE7-CAF5F5247719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МОЛОЧНАЯ ФЕРМА  /  УЧЕБНЫЙ ПРОЕКТ 1С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1E8C7B-529E-4FBA-B0A3-9210F25422D5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2C"/>
                </a:solidFill>
                <a:latin typeface="Arial"/>
                <a:ea typeface="Arial"/>
                <a:cs typeface="Arial"/>
              </a:rPr>
              <a:t>Рабочий стол фермы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9C3D0B-3C99-4C19-9F7D-AC1E0D720C5D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021CA0-3306-4619-8B74-DD3CBE0C2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5" t="37939" r="22475" b="21086"/>
          <a:stretch/>
        </p:blipFill>
        <p:spPr>
          <a:xfrm>
            <a:off x="714375" y="1952625"/>
            <a:ext cx="107156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0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953ED51-B830-4A76-B0DF-254FA331DE8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МОЛОЧНАЯ ФЕРМА  /  УЧЕБНЫЙ ПРОЕКТ 1С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F0A6CE-ECB6-4CDC-B562-0D3A0A5718FA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2C"/>
                </a:solidFill>
                <a:latin typeface="Arial"/>
                <a:ea typeface="Arial"/>
                <a:cs typeface="Arial"/>
              </a:rPr>
              <a:t>Остатки и проверка системы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D4D4292-F32A-44D2-BE0D-BFAA17D522C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C8757E2-90EE-426E-A92C-F6EF1838DE60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107156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Остатки в демонстрационной базе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4F610E-CBBF-42FC-831A-A0951F7F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908" t="63095" r="8080" b="19048"/>
          <a:stretch/>
        </p:blipFill>
        <p:spPr>
          <a:xfrm>
            <a:off x="714375" y="2619375"/>
            <a:ext cx="10715625" cy="180975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687827-144A-4EAE-A76C-81DE3BA8D01C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107156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45 автоматических проверок прошли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7ED2B96-ABFE-4CFE-9A4C-04C0EBC1BE9D}"/>
              </a:ext>
            </a:extLst>
          </p:cNvPr>
          <p:cNvSpPr>
            <a:spLocks noGrp="1"/>
          </p:cNvSpPr>
          <p:nvPr/>
        </p:nvSpPr>
        <p:spPr>
          <a:xfrm>
            <a:off x="714375" y="5381625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21 проверка учёта, 10 проверок форм, 14 проверок прав</a:t>
            </a:r>
          </a:p>
          <a:p>
            <a:pPr>
              <a:defRPr sz="19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Контроль остатков, перепроведение и отмена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67590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87F68B-E9F0-47D9-BE93-A149D5E953AA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МОЛОЧНАЯ ФЕРМА  /  УЧЕБНЫЙ ПРОЕКТ 1С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5DEEAE-7184-46B9-939D-C81CBAE598A8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2C"/>
                </a:solidFill>
                <a:latin typeface="Arial"/>
                <a:ea typeface="Arial"/>
                <a:cs typeface="Arial"/>
              </a:rPr>
              <a:t>Agile и развитие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4E2628-55CB-4915-A4F3-24BDAAB5CAE7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5F6D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3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AF1979-8251-4D01-A905-337725DA0F3A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70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Доработка по обратной связи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B52C40-530C-4804-9A6C-154B30CA8AA8}"/>
              </a:ext>
            </a:extLst>
          </p:cNvPr>
          <p:cNvSpPr>
            <a:spLocks noGrp="1"/>
          </p:cNvSpPr>
          <p:nvPr/>
        </p:nvSpPr>
        <p:spPr>
          <a:xfrm>
            <a:off x="714375" y="2952750"/>
            <a:ext cx="105727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Добавили кнопки операций и фильтры отчётов.</a:t>
            </a:r>
          </a:p>
          <a:p>
            <a:pPr>
              <a:buNone/>
              <a:defRPr sz="2175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Упростили переход в «Покупку» и «Продажу».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E7C9DE-0700-41DF-9F68-60302BCD2576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10572750" cy="1381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Результат: работающая база и документация</a:t>
            </a:r>
          </a:p>
          <a:p>
            <a: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Инструкция и протокол тестирования</a:t>
            </a:r>
          </a:p>
          <a:p>
            <a:pPr>
              <a:buNone/>
              <a:defRPr sz="2250" b="0">
                <a:solidFill>
                  <a:srgbClr val="2038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C"/>
                </a:solidFill>
                <a:latin typeface="Arial"/>
                <a:ea typeface="Arial"/>
                <a:cs typeface="Arial"/>
              </a:rPr>
              <a:t>Дальнейшее развитие: партии и сроки годности</a:t>
            </a:r>
          </a:p>
        </p:txBody>
      </p:sp>
    </p:spTree>
    <p:extLst>
      <p:ext uri="{BB962C8B-B14F-4D97-AF65-F5344CB8AC3E}">
        <p14:creationId xmlns:p14="http://schemas.microsoft.com/office/powerpoint/2010/main" val="5662509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891</Words>
  <Application>Microsoft Macintosh PowerPoint</Application>
  <DocSecurity>0</DocSecurity>
  <PresentationFormat>Широкоэкранный</PresentationFormat>
  <Paragraphs>66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Igor Kalinin</cp:lastModifiedBy>
  <cp:revision>2</cp:revision>
  <dcterms:created xsi:type="dcterms:W3CDTF">2026-10-22T14:58:46Z</dcterms:created>
  <dcterms:modified xsi:type="dcterms:W3CDTF">2026-10-23T16:07:59Z</dcterms:modified>
</cp:coreProperties>
</file>