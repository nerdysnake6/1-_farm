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992015"/>
            <a:ext cx="10661650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ПРОЕКТ НА ПЛАТФОРМЕ 1С"/>
          <p:cNvSpPr txBox="1"/>
          <p:nvPr/>
        </p:nvSpPr>
        <p:spPr>
          <a:xfrm>
            <a:off x="1009650" y="2039640"/>
            <a:ext cx="183524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ПРОЕКТ НА ПЛАТФОРМЕ 1С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211901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Молочная ферма «Луговая»"/>
          <p:cNvSpPr txBox="1"/>
          <p:nvPr/>
        </p:nvSpPr>
        <p:spPr>
          <a:xfrm>
            <a:off x="762000" y="2574330"/>
            <a:ext cx="5910659" cy="15468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spc="-11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Молочная ферма</a:t>
            </a:r>
            <a:br>
              <a:rPr lang="en-US" sz="5800"/>
            </a:br>
            <a:r>
              <a:rPr lang="en-US" sz="5800" b="1" spc="-11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«Луговая»</a:t>
            </a:r>
            <a:endParaRPr lang="en-US" sz="5800" dirty="0"/>
          </a:p>
        </p:txBody>
      </p:sp>
      <p:sp>
        <p:nvSpPr>
          <p:cNvPr id="6" name="Text: Учёт готовой молочной продукции и бронир"/>
          <p:cNvSpPr txBox="1"/>
          <p:nvPr/>
        </p:nvSpPr>
        <p:spPr>
          <a:xfrm>
            <a:off x="762000" y="4189710"/>
            <a:ext cx="527685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Учёт готовой молочной продукции и бронирование для покупателей</a:t>
            </a:r>
            <a:endParaRPr lang="en-US" sz="1300" dirty="0"/>
          </a:p>
        </p:txBody>
      </p:sp>
      <p:sp>
        <p:nvSpPr>
          <p:cNvPr id="7" name="Text: @калинин.игорь"/>
          <p:cNvSpPr txBox="1"/>
          <p:nvPr/>
        </p:nvSpPr>
        <p:spPr>
          <a:xfrm>
            <a:off x="762000" y="4653260"/>
            <a:ext cx="970459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@калинин.игорь</a:t>
            </a:r>
            <a:endParaRPr lang="en-US" sz="1000" dirty="0"/>
          </a:p>
        </p:txBody>
      </p:sp>
      <p:sp>
        <p:nvSpPr>
          <p:cNvPr id="8" name="Text: версия 1.2.0 · 2026"/>
          <p:cNvSpPr txBox="1"/>
          <p:nvPr/>
        </p:nvSpPr>
        <p:spPr>
          <a:xfrm>
            <a:off x="1859459" y="4653260"/>
            <a:ext cx="131703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версия 1.2.0 · 2026</a:t>
            </a:r>
            <a:endParaRPr lang="en-US" sz="1000" dirty="0"/>
          </a:p>
        </p:txBody>
      </p:sp>
      <p:pic>
        <p:nvPicPr>
          <p:cNvPr id="9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81" y="956308"/>
            <a:ext cx="3780831" cy="3026031"/>
          </a:xfrm>
          <a:prstGeom prst="rect">
            <a:avLst/>
          </a:prstGeom>
          <a:ln>
            <a:noFill/>
          </a:ln>
        </p:spPr>
      </p:pic>
      <p:sp>
        <p:nvSpPr>
          <p:cNvPr id="10" name="Rounded Rectangle"/>
          <p:cNvSpPr/>
          <p:nvPr/>
        </p:nvSpPr>
        <p:spPr>
          <a:xfrm>
            <a:off x="8575675" y="511175"/>
            <a:ext cx="2914650" cy="3295650"/>
          </a:xfrm>
          <a:prstGeom prst="roundRect">
            <a:avLst>
              <a:gd name="adj" fmla="val 3377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11" name="Image: Молочная ферма"/>
          <p:cNvPicPr>
            <a:picLocks noChangeAspect="1"/>
          </p:cNvPicPr>
          <p:nvPr/>
        </p:nvPicPr>
        <p:blipFill>
          <a:blip r:embed="rId3"/>
          <a:srcRect l="5792" t="0" r="5792" b="0"/>
          <a:stretch>
            <a:fillRect/>
          </a:stretch>
        </p:blipFill>
        <p:spPr>
          <a:xfrm>
            <a:off x="8578850" y="514350"/>
            <a:ext cx="2908300" cy="3289300"/>
          </a:xfrm>
          <a:prstGeom prst="rect">
            <a:avLst/>
          </a:prstGeom>
          <a:ln>
            <a:noFill/>
          </a:ln>
        </p:spPr>
      </p:pic>
      <p:pic>
        <p:nvPicPr>
          <p:cNvPr id="12" name="Rendered 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775" y="301625"/>
            <a:ext cx="3346450" cy="3714750"/>
          </a:xfrm>
          <a:prstGeom prst="rect">
            <a:avLst/>
          </a:prstGeom>
          <a:ln>
            <a:noFill/>
          </a:ln>
        </p:spPr>
      </p:pic>
      <p:sp>
        <p:nvSpPr>
          <p:cNvPr id="13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14" name="Text: 01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01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196181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НАЗНАЧЕНИЕ"/>
          <p:cNvSpPr txBox="1"/>
          <p:nvPr/>
        </p:nvSpPr>
        <p:spPr>
          <a:xfrm>
            <a:off x="1009650" y="685800"/>
            <a:ext cx="83423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НАЗНАЧЕНИЕ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Поступления и продажи в одной базе"/>
          <p:cNvSpPr txBox="1"/>
          <p:nvPr/>
        </p:nvSpPr>
        <p:spPr>
          <a:xfrm>
            <a:off x="762000" y="1041400"/>
            <a:ext cx="6174482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Поступления и продажи в одной базе</a:t>
            </a:r>
            <a:endParaRPr lang="en-US" sz="2800" dirty="0"/>
          </a:p>
        </p:txBody>
      </p:sp>
      <p:sp>
        <p:nvSpPr>
          <p:cNvPr id="6" name="Text: Сотрудник оформляет документы, а система"/>
          <p:cNvSpPr txBox="1"/>
          <p:nvPr/>
        </p:nvSpPr>
        <p:spPr>
          <a:xfrm>
            <a:off x="762000" y="1657350"/>
            <a:ext cx="6858298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Сотрудник оформляет документы, а система рассчитывает суммы и доступное количество</a:t>
            </a:r>
            <a:br>
              <a:rPr lang="en-US" sz="1300"/>
            </a:br>
            <a:r>
              <a:rPr lang="en-US" sz="13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продукции.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2524125"/>
            <a:ext cx="1644650" cy="1644650"/>
          </a:xfrm>
          <a:prstGeom prst="roundRect">
            <a:avLst>
              <a:gd name="adj" fmla="val 5985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8" name="Image: Творог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2527300"/>
            <a:ext cx="1638300" cy="1638300"/>
          </a:xfrm>
          <a:prstGeom prst="rect">
            <a:avLst/>
          </a:prstGeom>
          <a:ln>
            <a:noFill/>
          </a:ln>
        </p:spPr>
      </p:pic>
      <p:sp>
        <p:nvSpPr>
          <p:cNvPr id="9" name="Rounded Rectangle"/>
          <p:cNvSpPr/>
          <p:nvPr/>
        </p:nvSpPr>
        <p:spPr>
          <a:xfrm>
            <a:off x="2720975" y="2524125"/>
            <a:ext cx="1644650" cy="1644650"/>
          </a:xfrm>
          <a:prstGeom prst="roundRect">
            <a:avLst>
              <a:gd name="adj" fmla="val 5985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10" name="Image: Сметан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2527300"/>
            <a:ext cx="1638300" cy="1638300"/>
          </a:xfrm>
          <a:prstGeom prst="rect">
            <a:avLst/>
          </a:prstGeom>
          <a:ln>
            <a:noFill/>
          </a:ln>
        </p:spPr>
      </p:pic>
      <p:sp>
        <p:nvSpPr>
          <p:cNvPr id="11" name="Text: Творог 9% · Сметана 20%"/>
          <p:cNvSpPr txBox="1"/>
          <p:nvPr/>
        </p:nvSpPr>
        <p:spPr>
          <a:xfrm>
            <a:off x="4673600" y="2828925"/>
            <a:ext cx="194637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Творог 9% · Сметана 20%</a:t>
            </a:r>
            <a:endParaRPr lang="en-US" sz="1300" dirty="0"/>
          </a:p>
        </p:txBody>
      </p:sp>
      <p:sp>
        <p:nvSpPr>
          <p:cNvPr id="12" name="Text: Фотографии хранятся в карточках продукци"/>
          <p:cNvSpPr txBox="1"/>
          <p:nvPr/>
        </p:nvSpPr>
        <p:spPr>
          <a:xfrm>
            <a:off x="4673600" y="3152775"/>
            <a:ext cx="320198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Фотографии хранятся в карточках продукции.</a:t>
            </a:r>
            <a:endParaRPr lang="en-US" sz="1200" dirty="0"/>
          </a:p>
        </p:txBody>
      </p:sp>
      <p:sp>
        <p:nvSpPr>
          <p:cNvPr id="13" name="Rounded Rectangle"/>
          <p:cNvSpPr/>
          <p:nvPr/>
        </p:nvSpPr>
        <p:spPr>
          <a:xfrm>
            <a:off x="4676775" y="3524250"/>
            <a:ext cx="1180009" cy="32385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14" name="Text: молоко · литры"/>
          <p:cNvSpPr txBox="1"/>
          <p:nvPr/>
        </p:nvSpPr>
        <p:spPr>
          <a:xfrm>
            <a:off x="4781550" y="3565525"/>
            <a:ext cx="970459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молоко · литры</a:t>
            </a:r>
            <a:endParaRPr lang="en-US" sz="1000" dirty="0"/>
          </a:p>
        </p:txBody>
      </p:sp>
      <p:sp>
        <p:nvSpPr>
          <p:cNvPr id="15" name="Rounded Rectangle"/>
          <p:cNvSpPr/>
          <p:nvPr/>
        </p:nvSpPr>
        <p:spPr>
          <a:xfrm>
            <a:off x="5939334" y="3524250"/>
            <a:ext cx="1526580" cy="32385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16" name="Text: творог/сметана · кг"/>
          <p:cNvSpPr txBox="1"/>
          <p:nvPr/>
        </p:nvSpPr>
        <p:spPr>
          <a:xfrm>
            <a:off x="6044109" y="3565525"/>
            <a:ext cx="131703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творог/сметана · кг</a:t>
            </a:r>
            <a:endParaRPr lang="en-US" sz="1000" dirty="0"/>
          </a:p>
        </p:txBody>
      </p:sp>
      <p:pic>
        <p:nvPicPr>
          <p:cNvPr id="17" name="Rendered 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18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19" name="Text: 02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02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112738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СТРУКТУРА"/>
          <p:cNvSpPr txBox="1"/>
          <p:nvPr/>
        </p:nvSpPr>
        <p:spPr>
          <a:xfrm>
            <a:off x="1009650" y="685800"/>
            <a:ext cx="75078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СТРУКТУРА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Структура конфигурации"/>
          <p:cNvSpPr txBox="1"/>
          <p:nvPr/>
        </p:nvSpPr>
        <p:spPr>
          <a:xfrm>
            <a:off x="762000" y="1041400"/>
            <a:ext cx="4070648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Структура конфигурации</a:t>
            </a:r>
            <a:endParaRPr lang="en-US" sz="28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1673225"/>
            <a:ext cx="10661650" cy="2514600"/>
          </a:xfrm>
          <a:prstGeom prst="roundRect">
            <a:avLst>
              <a:gd name="adj" fmla="val 3914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7" name="Border"/>
          <p:cNvSpPr/>
          <p:nvPr/>
        </p:nvSpPr>
        <p:spPr>
          <a:xfrm>
            <a:off x="996950" y="21717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8" name="Text: Объекты"/>
          <p:cNvSpPr txBox="1"/>
          <p:nvPr/>
        </p:nvSpPr>
        <p:spPr>
          <a:xfrm>
            <a:off x="996950" y="1828800"/>
            <a:ext cx="485279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Объекты</a:t>
            </a:r>
            <a:endParaRPr lang="en-US" sz="1000" dirty="0"/>
          </a:p>
        </p:txBody>
      </p:sp>
      <p:sp>
        <p:nvSpPr>
          <p:cNvPr id="9" name="Text: Назначение"/>
          <p:cNvSpPr txBox="1"/>
          <p:nvPr/>
        </p:nvSpPr>
        <p:spPr>
          <a:xfrm>
            <a:off x="3409950" y="1841500"/>
            <a:ext cx="713978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Назначение</a:t>
            </a:r>
            <a:endParaRPr lang="en-US" sz="1000" dirty="0"/>
          </a:p>
        </p:txBody>
      </p:sp>
      <p:sp>
        <p:nvSpPr>
          <p:cNvPr id="10" name="Border"/>
          <p:cNvSpPr/>
          <p:nvPr/>
        </p:nvSpPr>
        <p:spPr>
          <a:xfrm>
            <a:off x="996950" y="266065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1" name="Text: 5 справочников"/>
          <p:cNvSpPr txBox="1"/>
          <p:nvPr/>
        </p:nvSpPr>
        <p:spPr>
          <a:xfrm>
            <a:off x="996950" y="2292350"/>
            <a:ext cx="1120775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5 справочников</a:t>
            </a:r>
            <a:endParaRPr lang="en-US" sz="1200" dirty="0"/>
          </a:p>
        </p:txBody>
      </p:sp>
      <p:sp>
        <p:nvSpPr>
          <p:cNvPr id="12" name="Text: Продукция, контрагенты, организации и ск"/>
          <p:cNvSpPr txBox="1"/>
          <p:nvPr/>
        </p:nvSpPr>
        <p:spPr>
          <a:xfrm>
            <a:off x="3409950" y="2292350"/>
            <a:ext cx="335637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Продукция, контрагенты, организации и склады</a:t>
            </a:r>
            <a:endParaRPr lang="en-US" sz="1200" dirty="0"/>
          </a:p>
        </p:txBody>
      </p:sp>
      <p:sp>
        <p:nvSpPr>
          <p:cNvPr id="13" name="Border"/>
          <p:cNvSpPr/>
          <p:nvPr/>
        </p:nvSpPr>
        <p:spPr>
          <a:xfrm>
            <a:off x="996950" y="31496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4" name="Text: 3 документа"/>
          <p:cNvSpPr txBox="1"/>
          <p:nvPr/>
        </p:nvSpPr>
        <p:spPr>
          <a:xfrm>
            <a:off x="996950" y="2781300"/>
            <a:ext cx="85516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3 документа</a:t>
            </a:r>
            <a:endParaRPr lang="en-US" sz="1200" dirty="0"/>
          </a:p>
        </p:txBody>
      </p:sp>
      <p:sp>
        <p:nvSpPr>
          <p:cNvPr id="15" name="Text: Приход, Расход, Бронирование"/>
          <p:cNvSpPr txBox="1"/>
          <p:nvPr/>
        </p:nvSpPr>
        <p:spPr>
          <a:xfrm>
            <a:off x="3409950" y="2781300"/>
            <a:ext cx="217656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Приход, Расход, Бронирование</a:t>
            </a:r>
            <a:endParaRPr lang="en-US" sz="1200" dirty="0"/>
          </a:p>
        </p:txBody>
      </p:sp>
      <p:sp>
        <p:nvSpPr>
          <p:cNvPr id="16" name="Border"/>
          <p:cNvSpPr/>
          <p:nvPr/>
        </p:nvSpPr>
        <p:spPr>
          <a:xfrm>
            <a:off x="996950" y="363855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7" name="Text: Регистр сведений"/>
          <p:cNvSpPr txBox="1"/>
          <p:nvPr/>
        </p:nvSpPr>
        <p:spPr>
          <a:xfrm>
            <a:off x="996950" y="3270250"/>
            <a:ext cx="122703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Регистр сведений</a:t>
            </a:r>
            <a:endParaRPr lang="en-US" sz="1200" dirty="0"/>
          </a:p>
        </p:txBody>
      </p:sp>
      <p:sp>
        <p:nvSpPr>
          <p:cNvPr id="18" name="Text: Цены продукции по датам"/>
          <p:cNvSpPr txBox="1"/>
          <p:nvPr/>
        </p:nvSpPr>
        <p:spPr>
          <a:xfrm>
            <a:off x="3409950" y="3270250"/>
            <a:ext cx="185598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Цены продукции по датам</a:t>
            </a:r>
            <a:endParaRPr lang="en-US" sz="1200" dirty="0"/>
          </a:p>
        </p:txBody>
      </p:sp>
      <p:sp>
        <p:nvSpPr>
          <p:cNvPr id="19" name="Border"/>
          <p:cNvSpPr/>
          <p:nvPr/>
        </p:nvSpPr>
        <p:spPr>
          <a:xfrm>
            <a:off x="996950" y="41275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20" name="Text: 2 регистра накопления"/>
          <p:cNvSpPr txBox="1"/>
          <p:nvPr/>
        </p:nvSpPr>
        <p:spPr>
          <a:xfrm>
            <a:off x="996950" y="3759200"/>
            <a:ext cx="160287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2 регистра накопления</a:t>
            </a:r>
            <a:endParaRPr lang="en-US" sz="1200" dirty="0"/>
          </a:p>
        </p:txBody>
      </p:sp>
      <p:sp>
        <p:nvSpPr>
          <p:cNvPr id="21" name="Text: ОстаткиПродукции и РезервыПродукции"/>
          <p:cNvSpPr txBox="1"/>
          <p:nvPr/>
        </p:nvSpPr>
        <p:spPr>
          <a:xfrm>
            <a:off x="3409950" y="3759200"/>
            <a:ext cx="287545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ОстаткиПродукции и РезервыПродукции</a:t>
            </a:r>
            <a:endParaRPr lang="en-US" sz="1200" dirty="0"/>
          </a:p>
        </p:txBody>
      </p:sp>
      <p:sp>
        <p:nvSpPr>
          <p:cNvPr id="22" name="Text: # разделы «Покупка» и «Продажа» — по зад"/>
          <p:cNvSpPr txBox="1"/>
          <p:nvPr/>
        </p:nvSpPr>
        <p:spPr>
          <a:xfrm>
            <a:off x="762000" y="4343400"/>
            <a:ext cx="41965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# разделы «Покупка» и «Продажа» — по задачам сотрудника</a:t>
            </a:r>
            <a:endParaRPr lang="en-US" sz="1100" dirty="0"/>
          </a:p>
        </p:txBody>
      </p:sp>
      <p:pic>
        <p:nvPicPr>
          <p:cNvPr id="23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24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25" name="Text: 03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03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196181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ОФОРМЛЕНИЕ"/>
          <p:cNvSpPr txBox="1"/>
          <p:nvPr/>
        </p:nvSpPr>
        <p:spPr>
          <a:xfrm>
            <a:off x="1009650" y="685800"/>
            <a:ext cx="83423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ОФОРМЛЕНИЕ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Рабочий стол и оформление"/>
          <p:cNvSpPr txBox="1"/>
          <p:nvPr/>
        </p:nvSpPr>
        <p:spPr>
          <a:xfrm>
            <a:off x="762000" y="1041400"/>
            <a:ext cx="4659015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Рабочий стол и оформление</a:t>
            </a:r>
            <a:endParaRPr lang="en-US" sz="2800" dirty="0"/>
          </a:p>
        </p:txBody>
      </p:sp>
      <p:sp>
        <p:nvSpPr>
          <p:cNvPr id="6" name="Text: Зелёный акцент выделяет основные действи"/>
          <p:cNvSpPr txBox="1"/>
          <p:nvPr/>
        </p:nvSpPr>
        <p:spPr>
          <a:xfrm>
            <a:off x="762000" y="1657350"/>
            <a:ext cx="581640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Зелёный акцент выделяет основные действия, журналы имеют светлый фон.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2149475"/>
            <a:ext cx="10661650" cy="8220571"/>
          </a:xfrm>
          <a:prstGeom prst="roundRect">
            <a:avLst>
              <a:gd name="adj" fmla="val 1197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  <a:effectLst>
            <a:outerShdw blurRad="381000" dist="0" dir="0" sx="100000" sy="100000" algn="ctr" rotWithShape="0">
              <a:srgbClr val="A78BFA">
                <a:alpha val="13300"/>
              </a:srgbClr>
            </a:outerShdw>
          </a:effectLst>
        </p:spPr>
      </p:sp>
      <p:pic>
        <p:nvPicPr>
          <p:cNvPr id="8" name="Image: Рабочий стол 1С"/>
          <p:cNvPicPr>
            <a:picLocks noChangeAspect="1"/>
          </p:cNvPicPr>
          <p:nvPr/>
        </p:nvPicPr>
        <p:blipFill>
          <a:blip r:embed="rId2"/>
          <a:srcRect l="0" t="0" r="0" b="42717"/>
          <a:stretch>
            <a:fillRect/>
          </a:stretch>
        </p:blipFill>
        <p:spPr>
          <a:xfrm>
            <a:off x="768350" y="2152650"/>
            <a:ext cx="10655300" cy="4705350"/>
          </a:xfrm>
          <a:prstGeom prst="rect">
            <a:avLst/>
          </a:prstGeom>
          <a:ln>
            <a:noFill/>
          </a:ln>
        </p:spPr>
      </p:pic>
      <p:pic>
        <p:nvPicPr>
          <p:cNvPr id="9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10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11" name="Text: 04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04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029295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ОПЕРАЦИИ"/>
          <p:cNvSpPr txBox="1"/>
          <p:nvPr/>
        </p:nvSpPr>
        <p:spPr>
          <a:xfrm>
            <a:off x="1009650" y="685800"/>
            <a:ext cx="66734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ОПЕРАЦИИ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Поступление и продажа продукции"/>
          <p:cNvSpPr txBox="1"/>
          <p:nvPr/>
        </p:nvSpPr>
        <p:spPr>
          <a:xfrm>
            <a:off x="762000" y="1041400"/>
            <a:ext cx="5830888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Поступление и продажа продукции</a:t>
            </a:r>
            <a:endParaRPr lang="en-US" sz="28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1673225"/>
            <a:ext cx="10661650" cy="1981200"/>
          </a:xfrm>
          <a:prstGeom prst="roundRect">
            <a:avLst>
              <a:gd name="adj" fmla="val 4968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7" name="Border"/>
          <p:cNvSpPr/>
          <p:nvPr/>
        </p:nvSpPr>
        <p:spPr>
          <a:xfrm>
            <a:off x="996950" y="21463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8" name="Text: Продукция"/>
          <p:cNvSpPr txBox="1"/>
          <p:nvPr/>
        </p:nvSpPr>
        <p:spPr>
          <a:xfrm>
            <a:off x="996950" y="1828800"/>
            <a:ext cx="66804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Продукция</a:t>
            </a:r>
            <a:endParaRPr lang="en-US" sz="1000" dirty="0"/>
          </a:p>
        </p:txBody>
      </p:sp>
      <p:sp>
        <p:nvSpPr>
          <p:cNvPr id="9" name="Text: Приход"/>
          <p:cNvSpPr txBox="1"/>
          <p:nvPr/>
        </p:nvSpPr>
        <p:spPr>
          <a:xfrm>
            <a:off x="4860727" y="1828800"/>
            <a:ext cx="4542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Приход</a:t>
            </a:r>
            <a:endParaRPr lang="en-US" sz="1000" dirty="0"/>
          </a:p>
        </p:txBody>
      </p:sp>
      <p:sp>
        <p:nvSpPr>
          <p:cNvPr id="10" name="Text: Продажа"/>
          <p:cNvSpPr txBox="1"/>
          <p:nvPr/>
        </p:nvSpPr>
        <p:spPr>
          <a:xfrm>
            <a:off x="6164163" y="1828800"/>
            <a:ext cx="54778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Продажа</a:t>
            </a:r>
            <a:endParaRPr lang="en-US" sz="1000" dirty="0"/>
          </a:p>
        </p:txBody>
      </p:sp>
      <p:sp>
        <p:nvSpPr>
          <p:cNvPr id="11" name="Text: Остаток"/>
          <p:cNvSpPr txBox="1"/>
          <p:nvPr/>
        </p:nvSpPr>
        <p:spPr>
          <a:xfrm>
            <a:off x="7640737" y="1828800"/>
            <a:ext cx="46821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Остаток</a:t>
            </a:r>
            <a:endParaRPr lang="en-US" sz="1000" dirty="0"/>
          </a:p>
        </p:txBody>
      </p:sp>
      <p:sp>
        <p:nvSpPr>
          <p:cNvPr id="12" name="Border"/>
          <p:cNvSpPr/>
          <p:nvPr/>
        </p:nvSpPr>
        <p:spPr>
          <a:xfrm>
            <a:off x="996950" y="26289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3" name="Text: Молоко 3,2%"/>
          <p:cNvSpPr txBox="1"/>
          <p:nvPr/>
        </p:nvSpPr>
        <p:spPr>
          <a:xfrm>
            <a:off x="996950" y="2254250"/>
            <a:ext cx="99615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Молоко 3,2%</a:t>
            </a:r>
            <a:endParaRPr lang="en-US" sz="1300" dirty="0"/>
          </a:p>
        </p:txBody>
      </p:sp>
      <p:sp>
        <p:nvSpPr>
          <p:cNvPr id="14" name="Text: 100 л"/>
          <p:cNvSpPr txBox="1"/>
          <p:nvPr/>
        </p:nvSpPr>
        <p:spPr>
          <a:xfrm>
            <a:off x="4918273" y="2254250"/>
            <a:ext cx="39667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100 л</a:t>
            </a:r>
            <a:endParaRPr lang="en-US" sz="1300" dirty="0"/>
          </a:p>
        </p:txBody>
      </p:sp>
      <p:sp>
        <p:nvSpPr>
          <p:cNvPr id="15" name="Text: 25 л"/>
          <p:cNvSpPr txBox="1"/>
          <p:nvPr/>
        </p:nvSpPr>
        <p:spPr>
          <a:xfrm>
            <a:off x="6403677" y="2254250"/>
            <a:ext cx="30827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25 л</a:t>
            </a:r>
            <a:endParaRPr lang="en-US" sz="1300" dirty="0"/>
          </a:p>
        </p:txBody>
      </p:sp>
      <p:sp>
        <p:nvSpPr>
          <p:cNvPr id="16" name="Text: 75 л"/>
          <p:cNvSpPr txBox="1"/>
          <p:nvPr/>
        </p:nvSpPr>
        <p:spPr>
          <a:xfrm>
            <a:off x="7800677" y="2254250"/>
            <a:ext cx="30827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75 л</a:t>
            </a:r>
            <a:endParaRPr lang="en-US" sz="1300" dirty="0"/>
          </a:p>
        </p:txBody>
      </p:sp>
      <p:sp>
        <p:nvSpPr>
          <p:cNvPr id="17" name="Border"/>
          <p:cNvSpPr/>
          <p:nvPr/>
        </p:nvSpPr>
        <p:spPr>
          <a:xfrm>
            <a:off x="996950" y="31115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8" name="Text: Творог 9%"/>
          <p:cNvSpPr txBox="1"/>
          <p:nvPr/>
        </p:nvSpPr>
        <p:spPr>
          <a:xfrm>
            <a:off x="996950" y="2736850"/>
            <a:ext cx="792559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Творог 9%</a:t>
            </a:r>
            <a:endParaRPr lang="en-US" sz="1300" dirty="0"/>
          </a:p>
        </p:txBody>
      </p:sp>
      <p:sp>
        <p:nvSpPr>
          <p:cNvPr id="19" name="Text: 20 кг"/>
          <p:cNvSpPr txBox="1"/>
          <p:nvPr/>
        </p:nvSpPr>
        <p:spPr>
          <a:xfrm>
            <a:off x="4948932" y="2736850"/>
            <a:ext cx="3660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20 кг</a:t>
            </a:r>
            <a:endParaRPr lang="en-US" sz="1300" dirty="0"/>
          </a:p>
        </p:txBody>
      </p:sp>
      <p:sp>
        <p:nvSpPr>
          <p:cNvPr id="20" name="Text: 5 кг"/>
          <p:cNvSpPr txBox="1"/>
          <p:nvPr/>
        </p:nvSpPr>
        <p:spPr>
          <a:xfrm>
            <a:off x="6434435" y="2736850"/>
            <a:ext cx="27751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5 кг</a:t>
            </a:r>
            <a:endParaRPr lang="en-US" sz="1300" dirty="0"/>
          </a:p>
        </p:txBody>
      </p:sp>
      <p:sp>
        <p:nvSpPr>
          <p:cNvPr id="21" name="Text: 15 кг"/>
          <p:cNvSpPr txBox="1"/>
          <p:nvPr/>
        </p:nvSpPr>
        <p:spPr>
          <a:xfrm>
            <a:off x="7742932" y="2736850"/>
            <a:ext cx="3660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15 кг</a:t>
            </a:r>
            <a:endParaRPr lang="en-US" sz="1300" dirty="0"/>
          </a:p>
        </p:txBody>
      </p:sp>
      <p:sp>
        <p:nvSpPr>
          <p:cNvPr id="22" name="Border"/>
          <p:cNvSpPr/>
          <p:nvPr/>
        </p:nvSpPr>
        <p:spPr>
          <a:xfrm>
            <a:off x="996950" y="35941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23" name="Text: Сметана 20%"/>
          <p:cNvSpPr txBox="1"/>
          <p:nvPr/>
        </p:nvSpPr>
        <p:spPr>
          <a:xfrm>
            <a:off x="996950" y="3219450"/>
            <a:ext cx="9883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Сметана 20%</a:t>
            </a:r>
            <a:endParaRPr lang="en-US" sz="1300" dirty="0"/>
          </a:p>
        </p:txBody>
      </p:sp>
      <p:sp>
        <p:nvSpPr>
          <p:cNvPr id="24" name="Text: 15 кг"/>
          <p:cNvSpPr txBox="1"/>
          <p:nvPr/>
        </p:nvSpPr>
        <p:spPr>
          <a:xfrm>
            <a:off x="4948932" y="3219450"/>
            <a:ext cx="3660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15 кг</a:t>
            </a:r>
            <a:endParaRPr lang="en-US" sz="1300" dirty="0"/>
          </a:p>
        </p:txBody>
      </p:sp>
      <p:sp>
        <p:nvSpPr>
          <p:cNvPr id="25" name="Text: 3 кг"/>
          <p:cNvSpPr txBox="1"/>
          <p:nvPr/>
        </p:nvSpPr>
        <p:spPr>
          <a:xfrm>
            <a:off x="6434435" y="3219450"/>
            <a:ext cx="27751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3 кг</a:t>
            </a:r>
            <a:endParaRPr lang="en-US" sz="1300" dirty="0"/>
          </a:p>
        </p:txBody>
      </p:sp>
      <p:sp>
        <p:nvSpPr>
          <p:cNvPr id="26" name="Text: 12 кг"/>
          <p:cNvSpPr txBox="1"/>
          <p:nvPr/>
        </p:nvSpPr>
        <p:spPr>
          <a:xfrm>
            <a:off x="7742932" y="3219450"/>
            <a:ext cx="3660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12 кг</a:t>
            </a:r>
            <a:endParaRPr lang="en-US" sz="1300" dirty="0"/>
          </a:p>
        </p:txBody>
      </p:sp>
      <p:sp>
        <p:nvSpPr>
          <p:cNvPr id="27" name="Text: Документ «Приход» увеличивает складской "/>
          <p:cNvSpPr txBox="1"/>
          <p:nvPr/>
        </p:nvSpPr>
        <p:spPr>
          <a:xfrm>
            <a:off x="762000" y="3797300"/>
            <a:ext cx="497264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Документ «Приход» увеличивает складской остаток, «Расход» уменьшает его.</a:t>
            </a:r>
            <a:endParaRPr lang="en-US" sz="1100" dirty="0"/>
          </a:p>
        </p:txBody>
      </p:sp>
      <p:sp>
        <p:nvSpPr>
          <p:cNvPr id="28" name="Text: 4 890 руб."/>
          <p:cNvSpPr txBox="1"/>
          <p:nvPr/>
        </p:nvSpPr>
        <p:spPr>
          <a:xfrm>
            <a:off x="762000" y="4114800"/>
            <a:ext cx="1569938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8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4 890 руб.</a:t>
            </a:r>
            <a:endParaRPr lang="en-US" sz="2800" dirty="0"/>
          </a:p>
        </p:txBody>
      </p:sp>
      <p:sp>
        <p:nvSpPr>
          <p:cNvPr id="29" name="Text: по ценам 90 · 360 · 280 руб."/>
          <p:cNvSpPr txBox="1"/>
          <p:nvPr/>
        </p:nvSpPr>
        <p:spPr>
          <a:xfrm>
            <a:off x="2484338" y="4292600"/>
            <a:ext cx="194091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по ценам 90 · 360 · 280 руб.</a:t>
            </a:r>
            <a:endParaRPr lang="en-US" sz="1000" dirty="0"/>
          </a:p>
        </p:txBody>
      </p:sp>
      <p:pic>
        <p:nvPicPr>
          <p:cNvPr id="30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31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32" name="Text: 05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05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029295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КОНТРОЛЬ"/>
          <p:cNvSpPr txBox="1"/>
          <p:nvPr/>
        </p:nvSpPr>
        <p:spPr>
          <a:xfrm>
            <a:off x="1009650" y="685800"/>
            <a:ext cx="66734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КОНТРОЛЬ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Отчёты и контроль результата"/>
          <p:cNvSpPr txBox="1"/>
          <p:nvPr/>
        </p:nvSpPr>
        <p:spPr>
          <a:xfrm>
            <a:off x="762000" y="1041400"/>
            <a:ext cx="4899819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Отчёты и контроль результата</a:t>
            </a:r>
            <a:endParaRPr lang="en-US" sz="28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1673225"/>
            <a:ext cx="5175250" cy="1041400"/>
          </a:xfrm>
          <a:prstGeom prst="roundRect">
            <a:avLst>
              <a:gd name="adj" fmla="val 9451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7" name="Text: Остатки продукции"/>
          <p:cNvSpPr txBox="1"/>
          <p:nvPr/>
        </p:nvSpPr>
        <p:spPr>
          <a:xfrm>
            <a:off x="920750" y="1816100"/>
            <a:ext cx="151556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Остатки продукции</a:t>
            </a:r>
            <a:endParaRPr lang="en-US" sz="1300" dirty="0"/>
          </a:p>
        </p:txBody>
      </p:sp>
      <p:sp>
        <p:nvSpPr>
          <p:cNvPr id="8" name="Text: Количество по организации, складу и това"/>
          <p:cNvSpPr txBox="1"/>
          <p:nvPr/>
        </p:nvSpPr>
        <p:spPr>
          <a:xfrm>
            <a:off x="920750" y="2127250"/>
            <a:ext cx="4614168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Количество по организации, складу и товару. В версии 1.2.0 — резерв и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свободный остаток.</a:t>
            </a:r>
            <a:endParaRPr lang="en-US" sz="1100" dirty="0"/>
          </a:p>
        </p:txBody>
      </p:sp>
      <p:sp>
        <p:nvSpPr>
          <p:cNvPr id="9" name="Rounded Rectangle"/>
          <p:cNvSpPr/>
          <p:nvPr/>
        </p:nvSpPr>
        <p:spPr>
          <a:xfrm>
            <a:off x="6251575" y="1673225"/>
            <a:ext cx="5175250" cy="1041400"/>
          </a:xfrm>
          <a:prstGeom prst="roundRect">
            <a:avLst>
              <a:gd name="adj" fmla="val 9451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10" name="Text: Продажи за период"/>
          <p:cNvSpPr txBox="1"/>
          <p:nvPr/>
        </p:nvSpPr>
        <p:spPr>
          <a:xfrm>
            <a:off x="6407150" y="1816100"/>
            <a:ext cx="155138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Продажи за период</a:t>
            </a:r>
            <a:endParaRPr lang="en-US" sz="1300" dirty="0"/>
          </a:p>
        </p:txBody>
      </p:sp>
      <p:sp>
        <p:nvSpPr>
          <p:cNvPr id="11" name="Text: Количество и сумма продаж с отбором по о"/>
          <p:cNvSpPr txBox="1"/>
          <p:nvPr/>
        </p:nvSpPr>
        <p:spPr>
          <a:xfrm>
            <a:off x="6407150" y="2127250"/>
            <a:ext cx="4193183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Количество и сумма продаж с отбором по организации и складу.</a:t>
            </a:r>
            <a:endParaRPr lang="en-US" sz="1100" dirty="0"/>
          </a:p>
        </p:txBody>
      </p:sp>
      <p:sp>
        <p:nvSpPr>
          <p:cNvPr id="12" name="Rounded Rectangle"/>
          <p:cNvSpPr/>
          <p:nvPr/>
        </p:nvSpPr>
        <p:spPr>
          <a:xfrm>
            <a:off x="765175" y="2898775"/>
            <a:ext cx="10661650" cy="4696222"/>
          </a:xfrm>
          <a:prstGeom prst="roundRect">
            <a:avLst>
              <a:gd name="adj" fmla="val 2096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13" name="Image: Отчёт об остатках"/>
          <p:cNvPicPr>
            <a:picLocks noChangeAspect="1"/>
          </p:cNvPicPr>
          <p:nvPr/>
        </p:nvPicPr>
        <p:blipFill>
          <a:blip r:embed="rId2"/>
          <a:srcRect l="0" t="0" r="0" b="15647"/>
          <a:stretch>
            <a:fillRect/>
          </a:stretch>
        </p:blipFill>
        <p:spPr>
          <a:xfrm>
            <a:off x="768350" y="2901950"/>
            <a:ext cx="10655300" cy="3956050"/>
          </a:xfrm>
          <a:prstGeom prst="rect">
            <a:avLst/>
          </a:prstGeom>
          <a:ln>
            <a:noFill/>
          </a:ln>
        </p:spPr>
      </p:pic>
      <p:pic>
        <p:nvPicPr>
          <p:cNvPr id="14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15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16" name="Text: 06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06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362968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БРОНИРОВАНИЕ"/>
          <p:cNvSpPr txBox="1"/>
          <p:nvPr/>
        </p:nvSpPr>
        <p:spPr>
          <a:xfrm>
            <a:off x="1009650" y="685800"/>
            <a:ext cx="100101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БРОНИРОВАНИЕ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Бронирование для покупателя"/>
          <p:cNvSpPr txBox="1"/>
          <p:nvPr/>
        </p:nvSpPr>
        <p:spPr>
          <a:xfrm>
            <a:off x="762000" y="1041400"/>
            <a:ext cx="5001915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Бронирование для покупателя</a:t>
            </a:r>
            <a:endParaRPr lang="en-US" sz="2800" dirty="0"/>
          </a:p>
        </p:txBody>
      </p:sp>
      <p:sp>
        <p:nvSpPr>
          <p:cNvPr id="6" name="Text: Проведённая бронь исключает товар из сво"/>
          <p:cNvSpPr txBox="1"/>
          <p:nvPr/>
        </p:nvSpPr>
        <p:spPr>
          <a:xfrm>
            <a:off x="762000" y="1657350"/>
            <a:ext cx="466546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Проведённая бронь исключает товар из свободных остатков.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2149475"/>
            <a:ext cx="7969250" cy="1651000"/>
          </a:xfrm>
          <a:prstGeom prst="roundRect">
            <a:avLst>
              <a:gd name="adj" fmla="val 5962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8" name="Border"/>
          <p:cNvSpPr/>
          <p:nvPr/>
        </p:nvSpPr>
        <p:spPr>
          <a:xfrm>
            <a:off x="971550" y="2622550"/>
            <a:ext cx="75565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9" name="Text: Молоко, л"/>
          <p:cNvSpPr txBox="1"/>
          <p:nvPr/>
        </p:nvSpPr>
        <p:spPr>
          <a:xfrm>
            <a:off x="971550" y="2305050"/>
            <a:ext cx="61277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Молоко, л</a:t>
            </a:r>
            <a:endParaRPr lang="en-US" sz="1000" dirty="0"/>
          </a:p>
        </p:txBody>
      </p:sp>
      <p:sp>
        <p:nvSpPr>
          <p:cNvPr id="10" name="Text: На складе"/>
          <p:cNvSpPr txBox="1"/>
          <p:nvPr/>
        </p:nvSpPr>
        <p:spPr>
          <a:xfrm>
            <a:off x="4755654" y="2305050"/>
            <a:ext cx="597396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На складе</a:t>
            </a:r>
            <a:endParaRPr lang="en-US" sz="1000" dirty="0"/>
          </a:p>
        </p:txBody>
      </p:sp>
      <p:sp>
        <p:nvSpPr>
          <p:cNvPr id="11" name="Text: В резерве"/>
          <p:cNvSpPr txBox="1"/>
          <p:nvPr/>
        </p:nvSpPr>
        <p:spPr>
          <a:xfrm>
            <a:off x="6349305" y="2305050"/>
            <a:ext cx="59124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В резерве</a:t>
            </a:r>
            <a:endParaRPr lang="en-US" sz="1000" dirty="0"/>
          </a:p>
        </p:txBody>
      </p:sp>
      <p:sp>
        <p:nvSpPr>
          <p:cNvPr id="12" name="Text: Свободно"/>
          <p:cNvSpPr txBox="1"/>
          <p:nvPr/>
        </p:nvSpPr>
        <p:spPr>
          <a:xfrm>
            <a:off x="7932738" y="2305050"/>
            <a:ext cx="59531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Свободно</a:t>
            </a:r>
            <a:endParaRPr lang="en-US" sz="1000" dirty="0"/>
          </a:p>
        </p:txBody>
      </p:sp>
      <p:sp>
        <p:nvSpPr>
          <p:cNvPr id="13" name="Border"/>
          <p:cNvSpPr/>
          <p:nvPr/>
        </p:nvSpPr>
        <p:spPr>
          <a:xfrm>
            <a:off x="971550" y="3105150"/>
            <a:ext cx="75565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4" name="Text: До брони"/>
          <p:cNvSpPr txBox="1"/>
          <p:nvPr/>
        </p:nvSpPr>
        <p:spPr>
          <a:xfrm>
            <a:off x="971550" y="2730500"/>
            <a:ext cx="73302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До брони</a:t>
            </a:r>
            <a:endParaRPr lang="en-US" sz="1300" dirty="0"/>
          </a:p>
        </p:txBody>
      </p:sp>
      <p:sp>
        <p:nvSpPr>
          <p:cNvPr id="15" name="Text: 75"/>
          <p:cNvSpPr txBox="1"/>
          <p:nvPr/>
        </p:nvSpPr>
        <p:spPr>
          <a:xfrm>
            <a:off x="5176044" y="273050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75</a:t>
            </a:r>
            <a:endParaRPr lang="en-US" sz="1300" dirty="0"/>
          </a:p>
        </p:txBody>
      </p:sp>
      <p:sp>
        <p:nvSpPr>
          <p:cNvPr id="16" name="Text: 0"/>
          <p:cNvSpPr txBox="1"/>
          <p:nvPr/>
        </p:nvSpPr>
        <p:spPr>
          <a:xfrm>
            <a:off x="6852047" y="2730500"/>
            <a:ext cx="8850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0</a:t>
            </a:r>
            <a:endParaRPr lang="en-US" sz="1300" dirty="0"/>
          </a:p>
        </p:txBody>
      </p:sp>
      <p:sp>
        <p:nvSpPr>
          <p:cNvPr id="17" name="Text: 75"/>
          <p:cNvSpPr txBox="1"/>
          <p:nvPr/>
        </p:nvSpPr>
        <p:spPr>
          <a:xfrm>
            <a:off x="8351044" y="273050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75</a:t>
            </a:r>
            <a:endParaRPr lang="en-US" sz="1300" dirty="0"/>
          </a:p>
        </p:txBody>
      </p:sp>
      <p:sp>
        <p:nvSpPr>
          <p:cNvPr id="18" name="Border"/>
          <p:cNvSpPr/>
          <p:nvPr/>
        </p:nvSpPr>
        <p:spPr>
          <a:xfrm>
            <a:off x="971550" y="3587750"/>
            <a:ext cx="75565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9" name="Text: Бронь 20 л"/>
          <p:cNvSpPr txBox="1"/>
          <p:nvPr/>
        </p:nvSpPr>
        <p:spPr>
          <a:xfrm>
            <a:off x="971550" y="3213100"/>
            <a:ext cx="81706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Бронь 20 л</a:t>
            </a:r>
            <a:endParaRPr lang="en-US" sz="1300" dirty="0"/>
          </a:p>
        </p:txBody>
      </p:sp>
      <p:sp>
        <p:nvSpPr>
          <p:cNvPr id="20" name="Text: 75"/>
          <p:cNvSpPr txBox="1"/>
          <p:nvPr/>
        </p:nvSpPr>
        <p:spPr>
          <a:xfrm>
            <a:off x="5176044" y="321310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75</a:t>
            </a:r>
            <a:endParaRPr lang="en-US" sz="1300" dirty="0"/>
          </a:p>
        </p:txBody>
      </p:sp>
      <p:sp>
        <p:nvSpPr>
          <p:cNvPr id="21" name="Text: 20"/>
          <p:cNvSpPr txBox="1"/>
          <p:nvPr/>
        </p:nvSpPr>
        <p:spPr>
          <a:xfrm>
            <a:off x="6763544" y="321310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20</a:t>
            </a:r>
            <a:endParaRPr lang="en-US" sz="1300" dirty="0"/>
          </a:p>
        </p:txBody>
      </p:sp>
      <p:sp>
        <p:nvSpPr>
          <p:cNvPr id="22" name="Text: 55"/>
          <p:cNvSpPr txBox="1"/>
          <p:nvPr/>
        </p:nvSpPr>
        <p:spPr>
          <a:xfrm>
            <a:off x="8351044" y="321310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55</a:t>
            </a:r>
            <a:endParaRPr lang="en-US" sz="1300" dirty="0"/>
          </a:p>
        </p:txBody>
      </p:sp>
      <p:sp>
        <p:nvSpPr>
          <p:cNvPr id="23" name="Rounded Rectangle"/>
          <p:cNvSpPr/>
          <p:nvPr/>
        </p:nvSpPr>
        <p:spPr>
          <a:xfrm>
            <a:off x="9045575" y="2149475"/>
            <a:ext cx="2381250" cy="1365250"/>
          </a:xfrm>
          <a:prstGeom prst="roundRect">
            <a:avLst>
              <a:gd name="adj" fmla="val 7209"/>
            </a:avLst>
          </a:prstGeom>
          <a:solidFill>
            <a:srgbClr val="A78BFA">
              <a:alpha val="14000"/>
            </a:srgbClr>
          </a:solidFill>
          <a:ln w="6350" cap="flat" cmpd="sng" algn="ctr">
            <a:solidFill>
              <a:srgbClr val="A78BFA">
                <a:alpha val="26700"/>
              </a:srgbClr>
            </a:solidFill>
            <a:miter lim="800000"/>
          </a:ln>
        </p:spPr>
      </p:sp>
      <p:sp>
        <p:nvSpPr>
          <p:cNvPr id="24" name="Text: свободно = склад − резерв"/>
          <p:cNvSpPr txBox="1"/>
          <p:nvPr/>
        </p:nvSpPr>
        <p:spPr>
          <a:xfrm>
            <a:off x="9213850" y="2286000"/>
            <a:ext cx="1823641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2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свободно = склад −</a:t>
            </a:r>
            <a:br>
              <a:rPr lang="en-US" sz="1400"/>
            </a:br>
            <a:r>
              <a:rPr lang="en-US" sz="1400" b="1" spc="2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резерв</a:t>
            </a:r>
            <a:endParaRPr lang="en-US" sz="1400" dirty="0"/>
          </a:p>
        </p:txBody>
      </p:sp>
      <p:sp>
        <p:nvSpPr>
          <p:cNvPr id="25" name="Text: Обычная продажа 56 л при свободных 55 л "/>
          <p:cNvSpPr txBox="1"/>
          <p:nvPr/>
        </p:nvSpPr>
        <p:spPr>
          <a:xfrm>
            <a:off x="9213850" y="2914650"/>
            <a:ext cx="1839119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Обычная продажа 56 л при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свободных 55 л отклоняется.</a:t>
            </a:r>
            <a:endParaRPr lang="en-US" sz="1100" dirty="0"/>
          </a:p>
        </p:txBody>
      </p:sp>
      <p:sp>
        <p:nvSpPr>
          <p:cNvPr id="26" name="Text: # проверка остатков перед продажей"/>
          <p:cNvSpPr txBox="1"/>
          <p:nvPr/>
        </p:nvSpPr>
        <p:spPr>
          <a:xfrm>
            <a:off x="9042400" y="3613150"/>
            <a:ext cx="2119412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# проверка остатков перед продажей</a:t>
            </a:r>
            <a:endParaRPr lang="en-US" sz="900" dirty="0"/>
          </a:p>
        </p:txBody>
      </p:sp>
      <p:pic>
        <p:nvPicPr>
          <p:cNvPr id="27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28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29" name="Text: 07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07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279624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ИСХОД БРОНИ"/>
          <p:cNvSpPr txBox="1"/>
          <p:nvPr/>
        </p:nvSpPr>
        <p:spPr>
          <a:xfrm>
            <a:off x="1009650" y="685800"/>
            <a:ext cx="91767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ИСХОД БРОНИ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Продажа по брони или отмена"/>
          <p:cNvSpPr txBox="1"/>
          <p:nvPr/>
        </p:nvSpPr>
        <p:spPr>
          <a:xfrm>
            <a:off x="762000" y="1041400"/>
            <a:ext cx="5062141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Продажа по брони или отмена</a:t>
            </a:r>
            <a:endParaRPr lang="en-US" sz="2800" dirty="0"/>
          </a:p>
        </p:txBody>
      </p:sp>
      <p:sp>
        <p:nvSpPr>
          <p:cNvPr id="6" name="Text: Исходное состояние: на складе 75 л, в ре"/>
          <p:cNvSpPr txBox="1"/>
          <p:nvPr/>
        </p:nvSpPr>
        <p:spPr>
          <a:xfrm>
            <a:off x="762000" y="1657350"/>
            <a:ext cx="508476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Исходное состояние: на складе 75 л, в резерве 20 л, свободно 55 л.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2124075"/>
            <a:ext cx="5175250" cy="1743075"/>
          </a:xfrm>
          <a:prstGeom prst="roundRect">
            <a:avLst>
              <a:gd name="adj" fmla="val 5647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8" name="Text: Продать по брони"/>
          <p:cNvSpPr txBox="1"/>
          <p:nvPr/>
        </p:nvSpPr>
        <p:spPr>
          <a:xfrm>
            <a:off x="933450" y="2279650"/>
            <a:ext cx="143033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7FE0A8"/>
                </a:solidFill>
                <a:latin typeface="Segoe UI"/>
                <a:ea typeface="Segoe UI"/>
                <a:cs typeface="Segoe UI"/>
              </a:rPr>
              <a:t>Продать по брони</a:t>
            </a:r>
            <a:endParaRPr lang="en-US" sz="1300" dirty="0"/>
          </a:p>
        </p:txBody>
      </p:sp>
      <p:sp>
        <p:nvSpPr>
          <p:cNvPr id="9" name="Text: Товар уходит покупателю. Расход использу"/>
          <p:cNvSpPr txBox="1"/>
          <p:nvPr/>
        </p:nvSpPr>
        <p:spPr>
          <a:xfrm>
            <a:off x="933450" y="2603500"/>
            <a:ext cx="340131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Товар уходит покупателю. Расход использует резерв.</a:t>
            </a:r>
            <a:endParaRPr lang="en-US" sz="1100" dirty="0"/>
          </a:p>
        </p:txBody>
      </p:sp>
      <p:sp>
        <p:nvSpPr>
          <p:cNvPr id="10" name="Border"/>
          <p:cNvSpPr/>
          <p:nvPr/>
        </p:nvSpPr>
        <p:spPr>
          <a:xfrm>
            <a:off x="933450" y="3295650"/>
            <a:ext cx="48387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1" name="Text: Склад"/>
          <p:cNvSpPr txBox="1"/>
          <p:nvPr/>
        </p:nvSpPr>
        <p:spPr>
          <a:xfrm>
            <a:off x="933450" y="3016250"/>
            <a:ext cx="35649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Склад</a:t>
            </a:r>
            <a:endParaRPr lang="en-US" sz="1000" dirty="0"/>
          </a:p>
        </p:txBody>
      </p:sp>
      <p:sp>
        <p:nvSpPr>
          <p:cNvPr id="12" name="Text: Резерв"/>
          <p:cNvSpPr txBox="1"/>
          <p:nvPr/>
        </p:nvSpPr>
        <p:spPr>
          <a:xfrm>
            <a:off x="2939355" y="3016250"/>
            <a:ext cx="40709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Резерв</a:t>
            </a:r>
            <a:endParaRPr lang="en-US" sz="1000" dirty="0"/>
          </a:p>
        </p:txBody>
      </p:sp>
      <p:sp>
        <p:nvSpPr>
          <p:cNvPr id="13" name="Text: Свободно"/>
          <p:cNvSpPr txBox="1"/>
          <p:nvPr/>
        </p:nvSpPr>
        <p:spPr>
          <a:xfrm>
            <a:off x="3894138" y="3016250"/>
            <a:ext cx="59531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Свободно</a:t>
            </a:r>
            <a:endParaRPr lang="en-US" sz="1000" dirty="0"/>
          </a:p>
        </p:txBody>
      </p:sp>
      <p:sp>
        <p:nvSpPr>
          <p:cNvPr id="14" name="Border"/>
          <p:cNvSpPr/>
          <p:nvPr/>
        </p:nvSpPr>
        <p:spPr>
          <a:xfrm>
            <a:off x="933450" y="3692525"/>
            <a:ext cx="48387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5" name="Text: 55"/>
          <p:cNvSpPr txBox="1"/>
          <p:nvPr/>
        </p:nvSpPr>
        <p:spPr>
          <a:xfrm>
            <a:off x="933450" y="3362325"/>
            <a:ext cx="17016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55</a:t>
            </a:r>
            <a:endParaRPr lang="en-US" sz="1250" dirty="0"/>
          </a:p>
        </p:txBody>
      </p:sp>
      <p:sp>
        <p:nvSpPr>
          <p:cNvPr id="16" name="Text: 0"/>
          <p:cNvSpPr txBox="1"/>
          <p:nvPr/>
        </p:nvSpPr>
        <p:spPr>
          <a:xfrm>
            <a:off x="3261320" y="3362325"/>
            <a:ext cx="8513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0</a:t>
            </a:r>
            <a:endParaRPr lang="en-US" sz="1250" dirty="0"/>
          </a:p>
        </p:txBody>
      </p:sp>
      <p:sp>
        <p:nvSpPr>
          <p:cNvPr id="17" name="Text: 55"/>
          <p:cNvSpPr txBox="1"/>
          <p:nvPr/>
        </p:nvSpPr>
        <p:spPr>
          <a:xfrm>
            <a:off x="4319290" y="3362325"/>
            <a:ext cx="17016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55</a:t>
            </a:r>
            <a:endParaRPr lang="en-US" sz="1250" dirty="0"/>
          </a:p>
        </p:txBody>
      </p:sp>
      <p:sp>
        <p:nvSpPr>
          <p:cNvPr id="18" name="Rounded Rectangle"/>
          <p:cNvSpPr/>
          <p:nvPr/>
        </p:nvSpPr>
        <p:spPr>
          <a:xfrm>
            <a:off x="6251575" y="2124075"/>
            <a:ext cx="5175250" cy="1743075"/>
          </a:xfrm>
          <a:prstGeom prst="roundRect">
            <a:avLst>
              <a:gd name="adj" fmla="val 5647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9" name="Text: Отменить бронь"/>
          <p:cNvSpPr txBox="1"/>
          <p:nvPr/>
        </p:nvSpPr>
        <p:spPr>
          <a:xfrm>
            <a:off x="6419850" y="2279650"/>
            <a:ext cx="127992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5C26B"/>
                </a:solidFill>
                <a:latin typeface="Segoe UI"/>
                <a:ea typeface="Segoe UI"/>
                <a:cs typeface="Segoe UI"/>
              </a:rPr>
              <a:t>Отменить бронь</a:t>
            </a:r>
            <a:endParaRPr lang="en-US" sz="1300" dirty="0"/>
          </a:p>
        </p:txBody>
      </p:sp>
      <p:sp>
        <p:nvSpPr>
          <p:cNvPr id="20" name="Text: Товар остаётся на складе. Всё количество"/>
          <p:cNvSpPr txBox="1"/>
          <p:nvPr/>
        </p:nvSpPr>
        <p:spPr>
          <a:xfrm>
            <a:off x="6419850" y="2603500"/>
            <a:ext cx="374957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Товар остаётся на складе. Всё количество снова свободно.</a:t>
            </a:r>
            <a:endParaRPr lang="en-US" sz="1100" dirty="0"/>
          </a:p>
        </p:txBody>
      </p:sp>
      <p:sp>
        <p:nvSpPr>
          <p:cNvPr id="21" name="Border"/>
          <p:cNvSpPr/>
          <p:nvPr/>
        </p:nvSpPr>
        <p:spPr>
          <a:xfrm>
            <a:off x="6419850" y="3295650"/>
            <a:ext cx="48387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22" name="Text: Склад"/>
          <p:cNvSpPr txBox="1"/>
          <p:nvPr/>
        </p:nvSpPr>
        <p:spPr>
          <a:xfrm>
            <a:off x="6419850" y="3016250"/>
            <a:ext cx="35649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Склад</a:t>
            </a:r>
            <a:endParaRPr lang="en-US" sz="1000" dirty="0"/>
          </a:p>
        </p:txBody>
      </p:sp>
      <p:sp>
        <p:nvSpPr>
          <p:cNvPr id="23" name="Text: Резерв"/>
          <p:cNvSpPr txBox="1"/>
          <p:nvPr/>
        </p:nvSpPr>
        <p:spPr>
          <a:xfrm>
            <a:off x="8425755" y="3016250"/>
            <a:ext cx="40709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Резерв</a:t>
            </a:r>
            <a:endParaRPr lang="en-US" sz="1000" dirty="0"/>
          </a:p>
        </p:txBody>
      </p:sp>
      <p:sp>
        <p:nvSpPr>
          <p:cNvPr id="24" name="Text: Свободно"/>
          <p:cNvSpPr txBox="1"/>
          <p:nvPr/>
        </p:nvSpPr>
        <p:spPr>
          <a:xfrm>
            <a:off x="9380538" y="3016250"/>
            <a:ext cx="59531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Свободно</a:t>
            </a:r>
            <a:endParaRPr lang="en-US" sz="1000" dirty="0"/>
          </a:p>
        </p:txBody>
      </p:sp>
      <p:sp>
        <p:nvSpPr>
          <p:cNvPr id="25" name="Border"/>
          <p:cNvSpPr/>
          <p:nvPr/>
        </p:nvSpPr>
        <p:spPr>
          <a:xfrm>
            <a:off x="6419850" y="3692525"/>
            <a:ext cx="48387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26" name="Text: 75"/>
          <p:cNvSpPr txBox="1"/>
          <p:nvPr/>
        </p:nvSpPr>
        <p:spPr>
          <a:xfrm>
            <a:off x="6419850" y="3362325"/>
            <a:ext cx="17016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75</a:t>
            </a:r>
            <a:endParaRPr lang="en-US" sz="1250" dirty="0"/>
          </a:p>
        </p:txBody>
      </p:sp>
      <p:sp>
        <p:nvSpPr>
          <p:cNvPr id="27" name="Text: 0"/>
          <p:cNvSpPr txBox="1"/>
          <p:nvPr/>
        </p:nvSpPr>
        <p:spPr>
          <a:xfrm>
            <a:off x="8747720" y="3362325"/>
            <a:ext cx="8513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0</a:t>
            </a:r>
            <a:endParaRPr lang="en-US" sz="1250" dirty="0"/>
          </a:p>
        </p:txBody>
      </p:sp>
      <p:sp>
        <p:nvSpPr>
          <p:cNvPr id="28" name="Text: 75"/>
          <p:cNvSpPr txBox="1"/>
          <p:nvPr/>
        </p:nvSpPr>
        <p:spPr>
          <a:xfrm>
            <a:off x="9805690" y="3362325"/>
            <a:ext cx="17016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75</a:t>
            </a:r>
            <a:endParaRPr lang="en-US" sz="1250" dirty="0"/>
          </a:p>
        </p:txBody>
      </p:sp>
      <p:sp>
        <p:nvSpPr>
          <p:cNvPr id="29" name="Text: # альтернативные исходы одной брони · по"/>
          <p:cNvSpPr txBox="1"/>
          <p:nvPr/>
        </p:nvSpPr>
        <p:spPr>
          <a:xfrm>
            <a:off x="762000" y="4003675"/>
            <a:ext cx="4051796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# альтернативные исходы одной брони · повторная продажа запрещена</a:t>
            </a:r>
            <a:endParaRPr lang="en-US" sz="900" dirty="0"/>
          </a:p>
        </p:txBody>
      </p:sp>
      <p:pic>
        <p:nvPicPr>
          <p:cNvPr id="30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31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32" name="Text: 08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08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862509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ДОСТУП"/>
          <p:cNvSpPr txBox="1"/>
          <p:nvPr/>
        </p:nvSpPr>
        <p:spPr>
          <a:xfrm>
            <a:off x="1009650" y="685800"/>
            <a:ext cx="50055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ДОСТУП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Роли и доступ к операциям"/>
          <p:cNvSpPr txBox="1"/>
          <p:nvPr/>
        </p:nvSpPr>
        <p:spPr>
          <a:xfrm>
            <a:off x="762000" y="1041400"/>
            <a:ext cx="4466630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Роли и доступ к операциям</a:t>
            </a:r>
            <a:endParaRPr lang="en-US" sz="28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1673225"/>
            <a:ext cx="10661650" cy="2463800"/>
          </a:xfrm>
          <a:prstGeom prst="roundRect">
            <a:avLst>
              <a:gd name="adj" fmla="val 3995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7" name="Border"/>
          <p:cNvSpPr/>
          <p:nvPr/>
        </p:nvSpPr>
        <p:spPr>
          <a:xfrm>
            <a:off x="996950" y="21463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8" name="Text: Возможность"/>
          <p:cNvSpPr txBox="1"/>
          <p:nvPr/>
        </p:nvSpPr>
        <p:spPr>
          <a:xfrm>
            <a:off x="996950" y="1828800"/>
            <a:ext cx="80585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Возможность</a:t>
            </a:r>
            <a:endParaRPr lang="en-US" sz="1000" dirty="0"/>
          </a:p>
        </p:txBody>
      </p:sp>
      <p:sp>
        <p:nvSpPr>
          <p:cNvPr id="9" name="Text: Покупка"/>
          <p:cNvSpPr txBox="1"/>
          <p:nvPr/>
        </p:nvSpPr>
        <p:spPr>
          <a:xfrm>
            <a:off x="4554240" y="1828800"/>
            <a:ext cx="505321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Покупка</a:t>
            </a:r>
            <a:endParaRPr lang="en-US" sz="1000" dirty="0"/>
          </a:p>
        </p:txBody>
      </p:sp>
      <p:sp>
        <p:nvSpPr>
          <p:cNvPr id="10" name="Text: Продажа"/>
          <p:cNvSpPr txBox="1"/>
          <p:nvPr/>
        </p:nvSpPr>
        <p:spPr>
          <a:xfrm>
            <a:off x="5803007" y="1828800"/>
            <a:ext cx="54778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Продажа</a:t>
            </a:r>
            <a:endParaRPr lang="en-US" sz="1000" dirty="0"/>
          </a:p>
        </p:txBody>
      </p:sp>
      <p:sp>
        <p:nvSpPr>
          <p:cNvPr id="11" name="Text: Полные права"/>
          <p:cNvSpPr txBox="1"/>
          <p:nvPr/>
        </p:nvSpPr>
        <p:spPr>
          <a:xfrm>
            <a:off x="6916241" y="1828800"/>
            <a:ext cx="86141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Полные права</a:t>
            </a:r>
            <a:endParaRPr lang="en-US" sz="1000" dirty="0"/>
          </a:p>
        </p:txBody>
      </p:sp>
      <p:sp>
        <p:nvSpPr>
          <p:cNvPr id="12" name="Border"/>
          <p:cNvSpPr/>
          <p:nvPr/>
        </p:nvSpPr>
        <p:spPr>
          <a:xfrm>
            <a:off x="996950" y="26289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3" name="Text: Поступления"/>
          <p:cNvSpPr txBox="1"/>
          <p:nvPr/>
        </p:nvSpPr>
        <p:spPr>
          <a:xfrm>
            <a:off x="996950" y="2254250"/>
            <a:ext cx="9756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Поступления</a:t>
            </a:r>
            <a:endParaRPr lang="en-US" sz="1300" dirty="0"/>
          </a:p>
        </p:txBody>
      </p:sp>
      <p:sp>
        <p:nvSpPr>
          <p:cNvPr id="14" name="Text: Да"/>
          <p:cNvSpPr txBox="1"/>
          <p:nvPr/>
        </p:nvSpPr>
        <p:spPr>
          <a:xfrm>
            <a:off x="4708128" y="22542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15" name="Text: Нет"/>
          <p:cNvSpPr txBox="1"/>
          <p:nvPr/>
        </p:nvSpPr>
        <p:spPr>
          <a:xfrm>
            <a:off x="5942013" y="2254250"/>
            <a:ext cx="26977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Нет</a:t>
            </a:r>
            <a:endParaRPr lang="en-US" sz="1300" dirty="0"/>
          </a:p>
        </p:txBody>
      </p:sp>
      <p:sp>
        <p:nvSpPr>
          <p:cNvPr id="16" name="Text: Да"/>
          <p:cNvSpPr txBox="1"/>
          <p:nvPr/>
        </p:nvSpPr>
        <p:spPr>
          <a:xfrm>
            <a:off x="7248128" y="22542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17" name="Border"/>
          <p:cNvSpPr/>
          <p:nvPr/>
        </p:nvSpPr>
        <p:spPr>
          <a:xfrm>
            <a:off x="996950" y="31115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8" name="Text: Изменение цен"/>
          <p:cNvSpPr txBox="1"/>
          <p:nvPr/>
        </p:nvSpPr>
        <p:spPr>
          <a:xfrm>
            <a:off x="996950" y="2736850"/>
            <a:ext cx="117812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Изменение цен</a:t>
            </a:r>
            <a:endParaRPr lang="en-US" sz="1300" dirty="0"/>
          </a:p>
        </p:txBody>
      </p:sp>
      <p:sp>
        <p:nvSpPr>
          <p:cNvPr id="19" name="Text: Да"/>
          <p:cNvSpPr txBox="1"/>
          <p:nvPr/>
        </p:nvSpPr>
        <p:spPr>
          <a:xfrm>
            <a:off x="4708128" y="27368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20" name="Text: Нет"/>
          <p:cNvSpPr txBox="1"/>
          <p:nvPr/>
        </p:nvSpPr>
        <p:spPr>
          <a:xfrm>
            <a:off x="5942013" y="2736850"/>
            <a:ext cx="26977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Нет</a:t>
            </a:r>
            <a:endParaRPr lang="en-US" sz="1300" dirty="0"/>
          </a:p>
        </p:txBody>
      </p:sp>
      <p:sp>
        <p:nvSpPr>
          <p:cNvPr id="21" name="Text: Да"/>
          <p:cNvSpPr txBox="1"/>
          <p:nvPr/>
        </p:nvSpPr>
        <p:spPr>
          <a:xfrm>
            <a:off x="7248128" y="27368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22" name="Border"/>
          <p:cNvSpPr/>
          <p:nvPr/>
        </p:nvSpPr>
        <p:spPr>
          <a:xfrm>
            <a:off x="996950" y="35941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23" name="Text: Продажи и брони"/>
          <p:cNvSpPr txBox="1"/>
          <p:nvPr/>
        </p:nvSpPr>
        <p:spPr>
          <a:xfrm>
            <a:off x="996950" y="3219450"/>
            <a:ext cx="136435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Продажи и брони</a:t>
            </a:r>
            <a:endParaRPr lang="en-US" sz="1300" dirty="0"/>
          </a:p>
        </p:txBody>
      </p:sp>
      <p:sp>
        <p:nvSpPr>
          <p:cNvPr id="24" name="Text: Нет"/>
          <p:cNvSpPr txBox="1"/>
          <p:nvPr/>
        </p:nvSpPr>
        <p:spPr>
          <a:xfrm>
            <a:off x="4672013" y="3219450"/>
            <a:ext cx="26977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Нет</a:t>
            </a:r>
            <a:endParaRPr lang="en-US" sz="1300" dirty="0"/>
          </a:p>
        </p:txBody>
      </p:sp>
      <p:sp>
        <p:nvSpPr>
          <p:cNvPr id="25" name="Text: Да"/>
          <p:cNvSpPr txBox="1"/>
          <p:nvPr/>
        </p:nvSpPr>
        <p:spPr>
          <a:xfrm>
            <a:off x="5978128" y="32194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26" name="Text: Да"/>
          <p:cNvSpPr txBox="1"/>
          <p:nvPr/>
        </p:nvSpPr>
        <p:spPr>
          <a:xfrm>
            <a:off x="7248128" y="32194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27" name="Border"/>
          <p:cNvSpPr/>
          <p:nvPr/>
        </p:nvSpPr>
        <p:spPr>
          <a:xfrm>
            <a:off x="996950" y="4076700"/>
            <a:ext cx="1019810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28" name="Text: Просмотр остатков"/>
          <p:cNvSpPr txBox="1"/>
          <p:nvPr/>
        </p:nvSpPr>
        <p:spPr>
          <a:xfrm>
            <a:off x="996950" y="3702050"/>
            <a:ext cx="146050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Просмотр остатков</a:t>
            </a:r>
            <a:endParaRPr lang="en-US" sz="1300" dirty="0"/>
          </a:p>
        </p:txBody>
      </p:sp>
      <p:sp>
        <p:nvSpPr>
          <p:cNvPr id="29" name="Text: Да"/>
          <p:cNvSpPr txBox="1"/>
          <p:nvPr/>
        </p:nvSpPr>
        <p:spPr>
          <a:xfrm>
            <a:off x="4708128" y="37020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30" name="Text: Да"/>
          <p:cNvSpPr txBox="1"/>
          <p:nvPr/>
        </p:nvSpPr>
        <p:spPr>
          <a:xfrm>
            <a:off x="5978128" y="37020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31" name="Text: Да"/>
          <p:cNvSpPr txBox="1"/>
          <p:nvPr/>
        </p:nvSpPr>
        <p:spPr>
          <a:xfrm>
            <a:off x="7248128" y="3702050"/>
            <a:ext cx="1975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Да</a:t>
            </a:r>
            <a:endParaRPr lang="en-US" sz="1300" dirty="0"/>
          </a:p>
        </p:txBody>
      </p:sp>
      <p:sp>
        <p:nvSpPr>
          <p:cNvPr id="32" name="Text: # система проверяет поля, цены и количес"/>
          <p:cNvSpPr txBox="1"/>
          <p:nvPr/>
        </p:nvSpPr>
        <p:spPr>
          <a:xfrm>
            <a:off x="762000" y="4292600"/>
            <a:ext cx="298073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# система проверяет поля, цены и количество</a:t>
            </a:r>
            <a:endParaRPr lang="en-US" sz="1000" dirty="0"/>
          </a:p>
        </p:txBody>
      </p:sp>
      <p:pic>
        <p:nvPicPr>
          <p:cNvPr id="33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34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35" name="Text: 09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09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1029295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КАЧЕСТВО"/>
          <p:cNvSpPr txBox="1"/>
          <p:nvPr/>
        </p:nvSpPr>
        <p:spPr>
          <a:xfrm>
            <a:off x="1009650" y="685800"/>
            <a:ext cx="66734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КАЧЕСТВО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Проверка конфигурации"/>
          <p:cNvSpPr txBox="1"/>
          <p:nvPr/>
        </p:nvSpPr>
        <p:spPr>
          <a:xfrm>
            <a:off x="762000" y="1041400"/>
            <a:ext cx="4052391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Проверка конфигурации</a:t>
            </a:r>
            <a:endParaRPr lang="en-US" sz="2800" dirty="0"/>
          </a:p>
        </p:txBody>
      </p:sp>
      <p:sp>
        <p:nvSpPr>
          <p:cNvPr id="6" name="Text: 83"/>
          <p:cNvSpPr txBox="1"/>
          <p:nvPr/>
        </p:nvSpPr>
        <p:spPr>
          <a:xfrm>
            <a:off x="762000" y="1828800"/>
            <a:ext cx="1000522" cy="952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spc="-225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83</a:t>
            </a:r>
            <a:endParaRPr lang="en-US" sz="7500" dirty="0"/>
          </a:p>
        </p:txBody>
      </p:sp>
      <p:sp>
        <p:nvSpPr>
          <p:cNvPr id="7" name="Text: успешных автоматических проверок"/>
          <p:cNvSpPr txBox="1"/>
          <p:nvPr/>
        </p:nvSpPr>
        <p:spPr>
          <a:xfrm>
            <a:off x="762000" y="2714030"/>
            <a:ext cx="1845965" cy="4266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успешных автоматических</a:t>
            </a:r>
            <a:br>
              <a:rPr lang="en-US" sz="1200"/>
            </a:b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проверок</a:t>
            </a:r>
            <a:endParaRPr lang="en-US" sz="1200" dirty="0"/>
          </a:p>
        </p:txBody>
      </p:sp>
      <p:sp>
        <p:nvSpPr>
          <p:cNvPr id="8" name="Rounded Rectangle"/>
          <p:cNvSpPr/>
          <p:nvPr/>
        </p:nvSpPr>
        <p:spPr>
          <a:xfrm>
            <a:off x="5243016" y="1673225"/>
            <a:ext cx="6183809" cy="1879600"/>
          </a:xfrm>
          <a:prstGeom prst="roundRect">
            <a:avLst>
              <a:gd name="adj" fmla="val 523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9" name="Border"/>
          <p:cNvSpPr/>
          <p:nvPr/>
        </p:nvSpPr>
        <p:spPr>
          <a:xfrm>
            <a:off x="5449391" y="2120900"/>
            <a:ext cx="5771059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0" name="Text: Группа"/>
          <p:cNvSpPr txBox="1"/>
          <p:nvPr/>
        </p:nvSpPr>
        <p:spPr>
          <a:xfrm>
            <a:off x="5449391" y="1816100"/>
            <a:ext cx="407194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Группа</a:t>
            </a:r>
            <a:endParaRPr lang="en-US" sz="1000" dirty="0"/>
          </a:p>
        </p:txBody>
      </p:sp>
      <p:sp>
        <p:nvSpPr>
          <p:cNvPr id="11" name="Text: Проверок"/>
          <p:cNvSpPr txBox="1"/>
          <p:nvPr/>
        </p:nvSpPr>
        <p:spPr>
          <a:xfrm>
            <a:off x="10621963" y="1816100"/>
            <a:ext cx="598488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Проверок</a:t>
            </a:r>
            <a:endParaRPr lang="en-US" sz="1000" dirty="0"/>
          </a:p>
        </p:txBody>
      </p:sp>
      <p:sp>
        <p:nvSpPr>
          <p:cNvPr id="12" name="Border"/>
          <p:cNvSpPr/>
          <p:nvPr/>
        </p:nvSpPr>
        <p:spPr>
          <a:xfrm>
            <a:off x="5449391" y="2578100"/>
            <a:ext cx="5771059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3" name="Text: Учёт, формы и права"/>
          <p:cNvSpPr txBox="1"/>
          <p:nvPr/>
        </p:nvSpPr>
        <p:spPr>
          <a:xfrm>
            <a:off x="5449391" y="2216150"/>
            <a:ext cx="15867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Учёт, формы и права</a:t>
            </a:r>
            <a:endParaRPr lang="en-US" sz="1300" dirty="0"/>
          </a:p>
        </p:txBody>
      </p:sp>
      <p:sp>
        <p:nvSpPr>
          <p:cNvPr id="14" name="Text: 49"/>
          <p:cNvSpPr txBox="1"/>
          <p:nvPr/>
        </p:nvSpPr>
        <p:spPr>
          <a:xfrm>
            <a:off x="11043444" y="221615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49</a:t>
            </a:r>
            <a:endParaRPr lang="en-US" sz="1300" dirty="0"/>
          </a:p>
        </p:txBody>
      </p:sp>
      <p:sp>
        <p:nvSpPr>
          <p:cNvPr id="15" name="Border"/>
          <p:cNvSpPr/>
          <p:nvPr/>
        </p:nvSpPr>
        <p:spPr>
          <a:xfrm>
            <a:off x="5449391" y="3035300"/>
            <a:ext cx="5771059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6" name="Text: Бронирование"/>
          <p:cNvSpPr txBox="1"/>
          <p:nvPr/>
        </p:nvSpPr>
        <p:spPr>
          <a:xfrm>
            <a:off x="5449391" y="2673350"/>
            <a:ext cx="111621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Бронирование</a:t>
            </a:r>
            <a:endParaRPr lang="en-US" sz="1300" dirty="0"/>
          </a:p>
        </p:txBody>
      </p:sp>
      <p:sp>
        <p:nvSpPr>
          <p:cNvPr id="17" name="Text: 28"/>
          <p:cNvSpPr txBox="1"/>
          <p:nvPr/>
        </p:nvSpPr>
        <p:spPr>
          <a:xfrm>
            <a:off x="11043444" y="2673350"/>
            <a:ext cx="17700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28</a:t>
            </a:r>
            <a:endParaRPr lang="en-US" sz="1300" dirty="0"/>
          </a:p>
        </p:txBody>
      </p:sp>
      <p:sp>
        <p:nvSpPr>
          <p:cNvPr id="18" name="Border"/>
          <p:cNvSpPr/>
          <p:nvPr/>
        </p:nvSpPr>
        <p:spPr>
          <a:xfrm>
            <a:off x="5449391" y="3492500"/>
            <a:ext cx="5771059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</p:sp>
      <p:sp>
        <p:nvSpPr>
          <p:cNvPr id="19" name="Text: Новые команды формы"/>
          <p:cNvSpPr txBox="1"/>
          <p:nvPr/>
        </p:nvSpPr>
        <p:spPr>
          <a:xfrm>
            <a:off x="5449391" y="3130550"/>
            <a:ext cx="180727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Новые команды формы</a:t>
            </a:r>
            <a:endParaRPr lang="en-US" sz="1300" dirty="0"/>
          </a:p>
        </p:txBody>
      </p:sp>
      <p:sp>
        <p:nvSpPr>
          <p:cNvPr id="20" name="Text: 6"/>
          <p:cNvSpPr txBox="1"/>
          <p:nvPr/>
        </p:nvSpPr>
        <p:spPr>
          <a:xfrm>
            <a:off x="11131947" y="3130550"/>
            <a:ext cx="8850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6</a:t>
            </a:r>
            <a:endParaRPr lang="en-US" sz="1300" dirty="0"/>
          </a:p>
        </p:txBody>
      </p:sp>
      <p:sp>
        <p:nvSpPr>
          <p:cNvPr id="21" name="Text: Сценарии повторены после восстановления "/>
          <p:cNvSpPr txBox="1"/>
          <p:nvPr/>
        </p:nvSpPr>
        <p:spPr>
          <a:xfrm>
            <a:off x="762000" y="3771900"/>
            <a:ext cx="6910983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Сценарии повторены после восстановления базы из DT. Автоматические проверки вызывают обработчики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программно; щелчки мышью и читаемость требуют ручной проверки.</a:t>
            </a:r>
            <a:endParaRPr lang="en-US" sz="1100" dirty="0"/>
          </a:p>
        </p:txBody>
      </p:sp>
      <p:pic>
        <p:nvPicPr>
          <p:cNvPr id="2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23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24" name="Text: 10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10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638175"/>
            <a:ext cx="695623" cy="3048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ИТОГ"/>
          <p:cNvSpPr txBox="1"/>
          <p:nvPr/>
        </p:nvSpPr>
        <p:spPr>
          <a:xfrm>
            <a:off x="1009650" y="685800"/>
            <a:ext cx="33367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ИТОГ</a:t>
            </a:r>
            <a:endParaRPr lang="en-US" sz="900" dirty="0"/>
          </a:p>
        </p:txBody>
      </p:sp>
      <p:sp>
        <p:nvSpPr>
          <p:cNvPr id="4" name="Ellipse"/>
          <p:cNvSpPr/>
          <p:nvPr/>
        </p:nvSpPr>
        <p:spPr>
          <a:xfrm>
            <a:off x="882650" y="76517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Результат проекта и развитие"/>
          <p:cNvSpPr txBox="1"/>
          <p:nvPr/>
        </p:nvSpPr>
        <p:spPr>
          <a:xfrm>
            <a:off x="762000" y="1041400"/>
            <a:ext cx="4763492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6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Результат проекта и развитие</a:t>
            </a:r>
            <a:endParaRPr lang="en-US" sz="28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1673225"/>
            <a:ext cx="5226050" cy="1339850"/>
          </a:xfrm>
          <a:prstGeom prst="roundRect">
            <a:avLst>
              <a:gd name="adj" fmla="val 734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7" name="Rounded Rectangle"/>
          <p:cNvSpPr/>
          <p:nvPr/>
        </p:nvSpPr>
        <p:spPr>
          <a:xfrm>
            <a:off x="958850" y="1866900"/>
            <a:ext cx="27940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8" name="Text: Готовая система"/>
          <p:cNvSpPr txBox="1"/>
          <p:nvPr/>
        </p:nvSpPr>
        <p:spPr>
          <a:xfrm>
            <a:off x="958850" y="2038350"/>
            <a:ext cx="1346299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Готовая система</a:t>
            </a:r>
            <a:endParaRPr lang="en-US" sz="1400" dirty="0"/>
          </a:p>
        </p:txBody>
      </p:sp>
      <p:sp>
        <p:nvSpPr>
          <p:cNvPr id="9" name="Text: Поступление и продажа продукции, хранени"/>
          <p:cNvSpPr txBox="1"/>
          <p:nvPr/>
        </p:nvSpPr>
        <p:spPr>
          <a:xfrm>
            <a:off x="958850" y="2387600"/>
            <a:ext cx="4791273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Поступление и продажа продукции, хранение цен и фотографий, отчёты и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бронирование.</a:t>
            </a:r>
            <a:endParaRPr lang="en-US" sz="1100" dirty="0"/>
          </a:p>
        </p:txBody>
      </p:sp>
      <p:sp>
        <p:nvSpPr>
          <p:cNvPr id="10" name="Rounded Rectangle"/>
          <p:cNvSpPr/>
          <p:nvPr/>
        </p:nvSpPr>
        <p:spPr>
          <a:xfrm>
            <a:off x="6200775" y="1673225"/>
            <a:ext cx="5226050" cy="1339850"/>
          </a:xfrm>
          <a:prstGeom prst="roundRect">
            <a:avLst>
              <a:gd name="adj" fmla="val 734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1" name="Rounded Rectangle"/>
          <p:cNvSpPr/>
          <p:nvPr/>
        </p:nvSpPr>
        <p:spPr>
          <a:xfrm>
            <a:off x="6394450" y="1866900"/>
            <a:ext cx="27940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12" name="Text: Материалы проекта"/>
          <p:cNvSpPr txBox="1"/>
          <p:nvPr/>
        </p:nvSpPr>
        <p:spPr>
          <a:xfrm>
            <a:off x="6394450" y="2038350"/>
            <a:ext cx="168255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Материалы проекта</a:t>
            </a:r>
            <a:endParaRPr lang="en-US" sz="1400" dirty="0"/>
          </a:p>
        </p:txBody>
      </p:sp>
      <p:sp>
        <p:nvSpPr>
          <p:cNvPr id="13" name="Text: База DT, конфигурация CF и исходники. От"/>
          <p:cNvSpPr txBox="1"/>
          <p:nvPr/>
        </p:nvSpPr>
        <p:spPr>
          <a:xfrm>
            <a:off x="6394450" y="2387600"/>
            <a:ext cx="4487763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База DT, конфигурация CF и исходники. Отдельные документы Word и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презентация PowerPoint.</a:t>
            </a:r>
            <a:endParaRPr lang="en-US" sz="1100" dirty="0"/>
          </a:p>
        </p:txBody>
      </p:sp>
      <p:sp>
        <p:nvSpPr>
          <p:cNvPr id="14" name="Rounded Rectangle"/>
          <p:cNvSpPr/>
          <p:nvPr/>
        </p:nvSpPr>
        <p:spPr>
          <a:xfrm>
            <a:off x="765175" y="3222625"/>
            <a:ext cx="5226050" cy="1339850"/>
          </a:xfrm>
          <a:prstGeom prst="roundRect">
            <a:avLst>
              <a:gd name="adj" fmla="val 734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5" name="Rounded Rectangle"/>
          <p:cNvSpPr/>
          <p:nvPr/>
        </p:nvSpPr>
        <p:spPr>
          <a:xfrm>
            <a:off x="958850" y="3416300"/>
            <a:ext cx="279400" cy="50800"/>
          </a:xfrm>
          <a:prstGeom prst="roundRect">
            <a:avLst>
              <a:gd name="adj" fmla="val 50000"/>
            </a:avLst>
          </a:prstGeom>
          <a:solidFill>
            <a:srgbClr val="7FE0A8"/>
          </a:solidFill>
          <a:ln>
            <a:noFill/>
          </a:ln>
        </p:spPr>
      </p:sp>
      <p:sp>
        <p:nvSpPr>
          <p:cNvPr id="16" name="Text: Следующие доработки"/>
          <p:cNvSpPr txBox="1"/>
          <p:nvPr/>
        </p:nvSpPr>
        <p:spPr>
          <a:xfrm>
            <a:off x="958850" y="3587750"/>
            <a:ext cx="1934270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Следующие доработки</a:t>
            </a:r>
            <a:endParaRPr lang="en-US" sz="1400" dirty="0"/>
          </a:p>
        </p:txBody>
      </p:sp>
      <p:sp>
        <p:nvSpPr>
          <p:cNvPr id="17" name="Text: Учёт партий и сроков годности. Частичная"/>
          <p:cNvSpPr txBox="1"/>
          <p:nvPr/>
        </p:nvSpPr>
        <p:spPr>
          <a:xfrm>
            <a:off x="958850" y="3937000"/>
            <a:ext cx="4388247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Учёт партий и сроков годности. Частичная продажа и срок действия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брони.</a:t>
            </a:r>
            <a:endParaRPr lang="en-US" sz="1100" dirty="0"/>
          </a:p>
        </p:txBody>
      </p:sp>
      <p:sp>
        <p:nvSpPr>
          <p:cNvPr id="18" name="Rounded Rectangle"/>
          <p:cNvSpPr/>
          <p:nvPr/>
        </p:nvSpPr>
        <p:spPr>
          <a:xfrm>
            <a:off x="6200775" y="3222625"/>
            <a:ext cx="5226050" cy="1339850"/>
          </a:xfrm>
          <a:prstGeom prst="roundRect">
            <a:avLst>
              <a:gd name="adj" fmla="val 734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9" name="Rounded Rectangle"/>
          <p:cNvSpPr/>
          <p:nvPr/>
        </p:nvSpPr>
        <p:spPr>
          <a:xfrm>
            <a:off x="6394450" y="3416300"/>
            <a:ext cx="279400" cy="50800"/>
          </a:xfrm>
          <a:prstGeom prst="roundRect">
            <a:avLst>
              <a:gd name="adj" fmla="val 50000"/>
            </a:avLst>
          </a:prstGeom>
          <a:solidFill>
            <a:srgbClr val="F5C26B"/>
          </a:solidFill>
          <a:ln>
            <a:noFill/>
          </a:ln>
        </p:spPr>
      </p:sp>
      <p:sp>
        <p:nvSpPr>
          <p:cNvPr id="20" name="Text: Границы версии"/>
          <p:cNvSpPr txBox="1"/>
          <p:nvPr/>
        </p:nvSpPr>
        <p:spPr>
          <a:xfrm>
            <a:off x="6394450" y="3587750"/>
            <a:ext cx="1368028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Границы версии</a:t>
            </a:r>
            <a:endParaRPr lang="en-US" sz="1400" dirty="0"/>
          </a:p>
        </p:txBody>
      </p:sp>
      <p:sp>
        <p:nvSpPr>
          <p:cNvPr id="21" name="Text: Бронь продаётся целиком. Учебная лицензи"/>
          <p:cNvSpPr txBox="1"/>
          <p:nvPr/>
        </p:nvSpPr>
        <p:spPr>
          <a:xfrm>
            <a:off x="6394450" y="3937000"/>
            <a:ext cx="4802188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Бронь продаётся целиком. Учебная лицензия блокирует печать табличных</a:t>
            </a:r>
            <a:br>
              <a:rPr lang="en-US" sz="1100"/>
            </a:br>
            <a:r>
              <a:rPr lang="en-US" sz="11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документов.</a:t>
            </a:r>
            <a:endParaRPr lang="en-US" sz="1100" dirty="0"/>
          </a:p>
        </p:txBody>
      </p:sp>
      <p:pic>
        <p:nvPicPr>
          <p:cNvPr id="2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3778250" cy="2743200"/>
          </a:xfrm>
          <a:prstGeom prst="rect">
            <a:avLst/>
          </a:prstGeom>
          <a:ln>
            <a:noFill/>
          </a:ln>
        </p:spPr>
      </p:pic>
      <p:sp>
        <p:nvSpPr>
          <p:cNvPr id="23" name="Text: moloko-ferma / v1.2.0"/>
          <p:cNvSpPr txBox="1"/>
          <p:nvPr/>
        </p:nvSpPr>
        <p:spPr>
          <a:xfrm>
            <a:off x="762000" y="6267450"/>
            <a:ext cx="1730375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moloko-ferma / v1.2.0</a:t>
            </a:r>
            <a:endParaRPr lang="en-US" sz="1100" dirty="0"/>
          </a:p>
        </p:txBody>
      </p:sp>
      <p:sp>
        <p:nvSpPr>
          <p:cNvPr id="24" name="Text: 11  / 11"/>
          <p:cNvSpPr txBox="1"/>
          <p:nvPr/>
        </p:nvSpPr>
        <p:spPr>
          <a:xfrm>
            <a:off x="10853142" y="6267450"/>
            <a:ext cx="5768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44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11 </a:t>
            </a:r>
            <a:r>
              <a:rPr lang="en-US" sz="1100" spc="44" dirty="0">
                <a:solidFill>
                  <a:srgbClr val="8B8B8B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