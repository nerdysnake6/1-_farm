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_rels/presentation.xml.rels" ContentType="application/vnd.openxmlformats-package.relationship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ounded Rectangle"/>
          <p:cNvSpPr/>
          <p:nvPr/>
        </p:nvSpPr>
        <p:spPr>
          <a:xfrm>
            <a:off x="762120" y="1590120"/>
            <a:ext cx="1680480" cy="27252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: Проект на платформе 1С"/>
          <p:cNvSpPr/>
          <p:nvPr/>
        </p:nvSpPr>
        <p:spPr>
          <a:xfrm>
            <a:off x="876240" y="1628280"/>
            <a:ext cx="14518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</a:pPr>
            <a:r>
              <a:rPr b="1" lang="en-US" sz="900" spc="35" strike="noStrike">
                <a:solidFill>
                  <a:srgbClr val="ffffff"/>
                </a:solidFill>
                <a:latin typeface="Segoe UI"/>
                <a:ea typeface="Segoe UI"/>
              </a:rPr>
              <a:t>Проект на платформе 1С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: Молочная ферма «Луговая»"/>
          <p:cNvSpPr/>
          <p:nvPr/>
        </p:nvSpPr>
        <p:spPr>
          <a:xfrm>
            <a:off x="762120" y="2227680"/>
            <a:ext cx="6725520" cy="175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6931"/>
              </a:lnSpc>
            </a:pPr>
            <a:r>
              <a:rPr b="1" lang="en-US" sz="6600" spc="-134" strike="noStrike">
                <a:solidFill>
                  <a:srgbClr val="202124"/>
                </a:solidFill>
                <a:latin typeface="Segoe UI"/>
                <a:ea typeface="Segoe UI"/>
              </a:rPr>
              <a:t>Молочная ферма</a:t>
            </a:r>
            <a:br>
              <a:rPr sz="6600"/>
            </a:br>
            <a:r>
              <a:rPr b="1" lang="en-US" sz="6600" spc="-134" strike="noStrike">
                <a:solidFill>
                  <a:srgbClr val="202124"/>
                </a:solidFill>
                <a:latin typeface="Segoe UI"/>
                <a:ea typeface="Segoe UI"/>
              </a:rPr>
              <a:t>«Луговая»</a:t>
            </a:r>
            <a:endParaRPr b="0" lang="ru-RU" sz="6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: Учёт готовой молочной продукции и бронир"/>
          <p:cNvSpPr/>
          <p:nvPr/>
        </p:nvSpPr>
        <p:spPr>
          <a:xfrm>
            <a:off x="762120" y="4035960"/>
            <a:ext cx="5937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01"/>
              </a:lnSpc>
            </a:pPr>
            <a:r>
              <a:rPr b="0" lang="en-US" sz="1800" spc="-4" strike="noStrike">
                <a:solidFill>
                  <a:srgbClr val="5f6368"/>
                </a:solidFill>
                <a:latin typeface="Segoe UI"/>
                <a:ea typeface="Segoe UI"/>
              </a:rPr>
              <a:t>Учёт готовой молочной продукции и бронирование для</a:t>
            </a:r>
            <a:br>
              <a:rPr sz="1800"/>
            </a:br>
            <a:r>
              <a:rPr b="0" lang="en-US" sz="1800" spc="-4" strike="noStrike">
                <a:solidFill>
                  <a:srgbClr val="5f6368"/>
                </a:solidFill>
                <a:latin typeface="Segoe UI"/>
                <a:ea typeface="Segoe UI"/>
              </a:rPr>
              <a:t>покупателей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: Калинин Игорь Вячеславович"/>
          <p:cNvSpPr/>
          <p:nvPr/>
        </p:nvSpPr>
        <p:spPr>
          <a:xfrm>
            <a:off x="762120" y="5007600"/>
            <a:ext cx="23299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</a:pPr>
            <a:r>
              <a:rPr b="0" lang="en-US" sz="1300" spc="-4" strike="noStrike">
                <a:solidFill>
                  <a:srgbClr val="202124"/>
                </a:solidFill>
                <a:latin typeface="Segoe UI"/>
                <a:ea typeface="Segoe UI"/>
              </a:rPr>
              <a:t>Калинин Игорь Вячеславович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950"/>
              </a:lnSpc>
            </a:pPr>
            <a:r>
              <a:rPr b="0" lang="en-US" sz="1300" spc="-4" strike="noStrike">
                <a:solidFill>
                  <a:srgbClr val="202124"/>
                </a:solidFill>
                <a:latin typeface="Segoe UI"/>
                <a:ea typeface="Segoe UI"/>
              </a:rPr>
              <a:t>Киселев Николай Сергеевич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: ·"/>
          <p:cNvSpPr/>
          <p:nvPr/>
        </p:nvSpPr>
        <p:spPr>
          <a:xfrm>
            <a:off x="3244680" y="5016960"/>
            <a:ext cx="32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</a:pPr>
            <a:r>
              <a:rPr b="0" lang="en-US" sz="1200" spc="-4" strike="noStrike">
                <a:solidFill>
                  <a:srgbClr val="5f6368"/>
                </a:solidFill>
                <a:latin typeface="Segoe UI"/>
                <a:ea typeface="Segoe UI"/>
              </a:rPr>
              <a:t>·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: Версия 1.2.0 · 2026"/>
          <p:cNvSpPr/>
          <p:nvPr/>
        </p:nvSpPr>
        <p:spPr>
          <a:xfrm>
            <a:off x="3429720" y="5016960"/>
            <a:ext cx="1281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</a:pPr>
            <a:r>
              <a:rPr b="0" lang="en-US" sz="1200" spc="-4" strike="noStrike">
                <a:solidFill>
                  <a:srgbClr val="5f6368"/>
                </a:solidFill>
                <a:latin typeface="Segoe UI"/>
                <a:ea typeface="Segoe UI"/>
              </a:rPr>
              <a:t>Версия 1.2.0 · 2026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" name="Image: Молочная ферма" descr=""/>
          <p:cNvPicPr/>
          <p:nvPr/>
        </p:nvPicPr>
        <p:blipFill>
          <a:blip r:embed="rId1"/>
          <a:stretch/>
        </p:blipFill>
        <p:spPr>
          <a:xfrm>
            <a:off x="8763120" y="571680"/>
            <a:ext cx="2666520" cy="2666520"/>
          </a:xfrm>
          <a:prstGeom prst="rect">
            <a:avLst/>
          </a:prstGeom>
          <a:ln w="0">
            <a:noFill/>
          </a:ln>
        </p:spPr>
      </p:pic>
      <p:sp>
        <p:nvSpPr>
          <p:cNvPr id="46" name="Text: Молочная ферма Луговая"/>
          <p:cNvSpPr/>
          <p:nvPr/>
        </p:nvSpPr>
        <p:spPr>
          <a:xfrm>
            <a:off x="914400" y="6273720"/>
            <a:ext cx="1509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</a:pPr>
            <a:r>
              <a:rPr b="0" lang="en-US" sz="1000" spc="-4" strike="noStrike">
                <a:solidFill>
                  <a:srgbClr val="5f6368"/>
                </a:solidFill>
                <a:latin typeface="Segoe UI"/>
                <a:ea typeface="Segoe UI"/>
              </a:rPr>
              <a:t>Молочная ферма Луговая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Ellipse"/>
          <p:cNvSpPr/>
          <p:nvPr/>
        </p:nvSpPr>
        <p:spPr>
          <a:xfrm>
            <a:off x="762120" y="6343560"/>
            <a:ext cx="75960" cy="75960"/>
          </a:xfrm>
          <a:prstGeom prst="ellipse">
            <a:avLst/>
          </a:prstGeom>
          <a:solidFill>
            <a:srgbClr val="1a73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: 1 / 11"/>
          <p:cNvSpPr/>
          <p:nvPr/>
        </p:nvSpPr>
        <p:spPr>
          <a:xfrm>
            <a:off x="11108520" y="6273720"/>
            <a:ext cx="321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</a:pPr>
            <a:r>
              <a:rPr b="0" lang="en-US" sz="1000" spc="-4" strike="noStrike">
                <a:solidFill>
                  <a:srgbClr val="5f6368"/>
                </a:solidFill>
                <a:latin typeface="Segoe UI"/>
                <a:ea typeface="Segoe UI"/>
              </a:rPr>
              <a:t>1 / 11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ounded Rectangle"/>
          <p:cNvSpPr/>
          <p:nvPr/>
        </p:nvSpPr>
        <p:spPr>
          <a:xfrm>
            <a:off x="762120" y="635040"/>
            <a:ext cx="921240" cy="27252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: Назначение"/>
          <p:cNvSpPr/>
          <p:nvPr/>
        </p:nvSpPr>
        <p:spPr>
          <a:xfrm>
            <a:off x="876240" y="673200"/>
            <a:ext cx="6926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</a:pPr>
            <a:r>
              <a:rPr b="1" lang="en-US" sz="900" spc="35" strike="noStrike">
                <a:solidFill>
                  <a:srgbClr val="ffffff"/>
                </a:solidFill>
                <a:latin typeface="Segoe UI"/>
                <a:ea typeface="Segoe UI"/>
              </a:rPr>
              <a:t>Назначение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: Поступления и продажи в одной базе"/>
          <p:cNvSpPr/>
          <p:nvPr/>
        </p:nvSpPr>
        <p:spPr>
          <a:xfrm>
            <a:off x="762120" y="984240"/>
            <a:ext cx="76071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</a:pPr>
            <a:r>
              <a:rPr b="1" lang="en-US" sz="3200" spc="-4" strike="noStrike">
                <a:solidFill>
                  <a:srgbClr val="202124"/>
                </a:solidFill>
                <a:latin typeface="Arial"/>
                <a:ea typeface="Arial"/>
              </a:rPr>
              <a:t>Поступления и продажи в одной базе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: Сотрудник оформляет документы, а система"/>
          <p:cNvSpPr/>
          <p:nvPr/>
        </p:nvSpPr>
        <p:spPr>
          <a:xfrm>
            <a:off x="762120" y="1752480"/>
            <a:ext cx="73299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</a:pPr>
            <a:r>
              <a:rPr b="0" lang="en-US" sz="1600" spc="-4" strike="noStrike">
                <a:solidFill>
                  <a:srgbClr val="5f6368"/>
                </a:solidFill>
                <a:latin typeface="Segoe UI"/>
                <a:ea typeface="Segoe UI"/>
              </a:rPr>
              <a:t>Сотрудник оформляет документы, а система рассчитывает суммы и доступное</a:t>
            </a:r>
            <a:br>
              <a:rPr sz="1600"/>
            </a:br>
            <a:r>
              <a:rPr b="0" lang="en-US" sz="1600" spc="-4" strike="noStrike">
                <a:solidFill>
                  <a:srgbClr val="5f6368"/>
                </a:solidFill>
                <a:latin typeface="Segoe UI"/>
                <a:ea typeface="Segoe UI"/>
              </a:rPr>
              <a:t>количество продукции.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Rounded Rectangle"/>
          <p:cNvSpPr/>
          <p:nvPr/>
        </p:nvSpPr>
        <p:spPr>
          <a:xfrm>
            <a:off x="765000" y="2739960"/>
            <a:ext cx="1898280" cy="1898280"/>
          </a:xfrm>
          <a:prstGeom prst="roundRect">
            <a:avLst>
              <a:gd name="adj" fmla="val 7860"/>
            </a:avLst>
          </a:prstGeom>
          <a:solidFill>
            <a:srgbClr val="f7f9fc"/>
          </a:solidFill>
          <a:ln w="6350">
            <a:solidFill>
              <a:srgbClr val="e8eae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" name="Image: Творог" descr=""/>
          <p:cNvPicPr/>
          <p:nvPr/>
        </p:nvPicPr>
        <p:blipFill>
          <a:blip r:embed="rId1"/>
          <a:stretch/>
        </p:blipFill>
        <p:spPr>
          <a:xfrm>
            <a:off x="768240" y="2743200"/>
            <a:ext cx="1891800" cy="1891800"/>
          </a:xfrm>
          <a:prstGeom prst="rect">
            <a:avLst/>
          </a:prstGeom>
          <a:ln w="0">
            <a:noFill/>
          </a:ln>
        </p:spPr>
      </p:pic>
      <p:sp>
        <p:nvSpPr>
          <p:cNvPr id="55" name="Rounded Rectangle"/>
          <p:cNvSpPr/>
          <p:nvPr/>
        </p:nvSpPr>
        <p:spPr>
          <a:xfrm>
            <a:off x="3025800" y="2739960"/>
            <a:ext cx="1898280" cy="1898280"/>
          </a:xfrm>
          <a:prstGeom prst="roundRect">
            <a:avLst>
              <a:gd name="adj" fmla="val 7860"/>
            </a:avLst>
          </a:prstGeom>
          <a:solidFill>
            <a:srgbClr val="f7f9fc"/>
          </a:solidFill>
          <a:ln w="6350">
            <a:solidFill>
              <a:srgbClr val="e8eae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" name="Image: Сметана" descr=""/>
          <p:cNvPicPr/>
          <p:nvPr/>
        </p:nvPicPr>
        <p:blipFill>
          <a:blip r:embed="rId2"/>
          <a:stretch/>
        </p:blipFill>
        <p:spPr>
          <a:xfrm>
            <a:off x="3029040" y="2743200"/>
            <a:ext cx="1891800" cy="1891800"/>
          </a:xfrm>
          <a:prstGeom prst="rect">
            <a:avLst/>
          </a:prstGeom>
          <a:ln w="0">
            <a:noFill/>
          </a:ln>
        </p:spPr>
      </p:pic>
      <p:sp>
        <p:nvSpPr>
          <p:cNvPr id="57" name="Text: Творог 9%"/>
          <p:cNvSpPr/>
          <p:nvPr/>
        </p:nvSpPr>
        <p:spPr>
          <a:xfrm>
            <a:off x="5283360" y="3213000"/>
            <a:ext cx="8640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</a:pPr>
            <a:r>
              <a:rPr b="1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Творог 9%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: Фотографии хранятся в карточках продукци"/>
          <p:cNvSpPr/>
          <p:nvPr/>
        </p:nvSpPr>
        <p:spPr>
          <a:xfrm>
            <a:off x="5283360" y="3537000"/>
            <a:ext cx="34700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</a:pPr>
            <a:r>
              <a:rPr b="0" lang="en-US" sz="1300" spc="-4" strike="noStrike">
                <a:solidFill>
                  <a:srgbClr val="5f6368"/>
                </a:solidFill>
                <a:latin typeface="Segoe UI"/>
                <a:ea typeface="Segoe UI"/>
              </a:rPr>
              <a:t>Фотографии хранятся в карточках продукции.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: Молоко учитывается в литрах, творог и см"/>
          <p:cNvSpPr/>
          <p:nvPr/>
        </p:nvSpPr>
        <p:spPr>
          <a:xfrm>
            <a:off x="5283360" y="3886200"/>
            <a:ext cx="505260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</a:pPr>
            <a:r>
              <a:rPr b="0" lang="en-US" sz="1300" spc="-4" strike="noStrike">
                <a:solidFill>
                  <a:srgbClr val="5f6368"/>
                </a:solidFill>
                <a:latin typeface="Segoe UI"/>
                <a:ea typeface="Segoe UI"/>
              </a:rPr>
              <a:t>Молоко учитывается в литрах, творог и сметана — в килограммах.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: Молочная ферма Луговая"/>
          <p:cNvSpPr/>
          <p:nvPr/>
        </p:nvSpPr>
        <p:spPr>
          <a:xfrm>
            <a:off x="914400" y="6273720"/>
            <a:ext cx="1509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</a:pPr>
            <a:r>
              <a:rPr b="0" lang="en-US" sz="1000" spc="-4" strike="noStrike">
                <a:solidFill>
                  <a:srgbClr val="5f6368"/>
                </a:solidFill>
                <a:latin typeface="Segoe UI"/>
                <a:ea typeface="Segoe UI"/>
              </a:rPr>
              <a:t>Молочная ферма Луговая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Ellipse"/>
          <p:cNvSpPr/>
          <p:nvPr/>
        </p:nvSpPr>
        <p:spPr>
          <a:xfrm>
            <a:off x="762120" y="6343560"/>
            <a:ext cx="75960" cy="75960"/>
          </a:xfrm>
          <a:prstGeom prst="ellipse">
            <a:avLst/>
          </a:prstGeom>
          <a:solidFill>
            <a:srgbClr val="1a73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: 2 / 11"/>
          <p:cNvSpPr/>
          <p:nvPr/>
        </p:nvSpPr>
        <p:spPr>
          <a:xfrm>
            <a:off x="11108520" y="6273720"/>
            <a:ext cx="321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</a:pPr>
            <a:r>
              <a:rPr b="0" lang="en-US" sz="1000" spc="-4" strike="noStrike">
                <a:solidFill>
                  <a:srgbClr val="5f6368"/>
                </a:solidFill>
                <a:latin typeface="Segoe UI"/>
                <a:ea typeface="Segoe UI"/>
              </a:rPr>
              <a:t>2 / 11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ounded Rectangle"/>
          <p:cNvSpPr/>
          <p:nvPr/>
        </p:nvSpPr>
        <p:spPr>
          <a:xfrm>
            <a:off x="762120" y="635040"/>
            <a:ext cx="811080" cy="2725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: Структура"/>
          <p:cNvSpPr/>
          <p:nvPr/>
        </p:nvSpPr>
        <p:spPr>
          <a:xfrm>
            <a:off x="876240" y="673200"/>
            <a:ext cx="5824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</a:pPr>
            <a:r>
              <a:rPr b="1" lang="en-US" sz="900" spc="35" strike="noStrike">
                <a:solidFill>
                  <a:srgbClr val="ffffff"/>
                </a:solidFill>
                <a:latin typeface="Segoe UI"/>
                <a:ea typeface="Segoe UI"/>
              </a:rPr>
              <a:t>Структура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: Структура конфигурации"/>
          <p:cNvSpPr/>
          <p:nvPr/>
        </p:nvSpPr>
        <p:spPr>
          <a:xfrm>
            <a:off x="762120" y="984240"/>
            <a:ext cx="508140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</a:pPr>
            <a:r>
              <a:rPr b="1" lang="en-US" sz="3200" spc="-4" strike="noStrike">
                <a:solidFill>
                  <a:srgbClr val="202124"/>
                </a:solidFill>
                <a:latin typeface="Arial"/>
                <a:ea typeface="Arial"/>
              </a:rPr>
              <a:t>Структура конфигурации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Rounded Rectangle"/>
          <p:cNvSpPr/>
          <p:nvPr/>
        </p:nvSpPr>
        <p:spPr>
          <a:xfrm>
            <a:off x="765000" y="1927080"/>
            <a:ext cx="10661400" cy="2825280"/>
          </a:xfrm>
          <a:prstGeom prst="roundRect">
            <a:avLst>
              <a:gd name="adj" fmla="val 5281"/>
            </a:avLst>
          </a:prstGeom>
          <a:solidFill>
            <a:srgbClr val="f7f9fc"/>
          </a:solidFill>
          <a:ln w="6350">
            <a:solidFill>
              <a:srgbClr val="e8eae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Border"/>
          <p:cNvSpPr/>
          <p:nvPr/>
        </p:nvSpPr>
        <p:spPr>
          <a:xfrm>
            <a:off x="996840" y="2508120"/>
            <a:ext cx="10197720" cy="6120"/>
          </a:xfrm>
          <a:prstGeom prst="rect">
            <a:avLst/>
          </a:prstGeom>
          <a:solidFill>
            <a:srgbClr val="e8e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8520" bIns="-3852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: Объекты"/>
          <p:cNvSpPr/>
          <p:nvPr/>
        </p:nvSpPr>
        <p:spPr>
          <a:xfrm>
            <a:off x="996840" y="2108160"/>
            <a:ext cx="7171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</a:pPr>
            <a:r>
              <a:rPr b="1" lang="en-US" sz="1300" spc="-4" strike="noStrike">
                <a:solidFill>
                  <a:srgbClr val="1a73e8"/>
                </a:solidFill>
                <a:latin typeface="Segoe UI"/>
                <a:ea typeface="Segoe UI"/>
              </a:rPr>
              <a:t>Объекты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: Назначение"/>
          <p:cNvSpPr/>
          <p:nvPr/>
        </p:nvSpPr>
        <p:spPr>
          <a:xfrm>
            <a:off x="3409920" y="2108160"/>
            <a:ext cx="9601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</a:pPr>
            <a:r>
              <a:rPr b="1" lang="en-US" sz="1300" spc="-4" strike="noStrike">
                <a:solidFill>
                  <a:srgbClr val="1a73e8"/>
                </a:solidFill>
                <a:latin typeface="Segoe UI"/>
                <a:ea typeface="Segoe UI"/>
              </a:rPr>
              <a:t>Назначение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Border"/>
          <p:cNvSpPr/>
          <p:nvPr/>
        </p:nvSpPr>
        <p:spPr>
          <a:xfrm>
            <a:off x="996840" y="3054240"/>
            <a:ext cx="10197720" cy="6120"/>
          </a:xfrm>
          <a:prstGeom prst="rect">
            <a:avLst/>
          </a:prstGeom>
          <a:solidFill>
            <a:srgbClr val="e8e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8520" bIns="-3852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: 5 справочников"/>
          <p:cNvSpPr/>
          <p:nvPr/>
        </p:nvSpPr>
        <p:spPr>
          <a:xfrm>
            <a:off x="996840" y="2622600"/>
            <a:ext cx="14378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51"/>
              </a:lnSpc>
            </a:pPr>
            <a:r>
              <a:rPr b="1" lang="en-US" sz="1500" spc="-4" strike="noStrike">
                <a:solidFill>
                  <a:srgbClr val="202124"/>
                </a:solidFill>
                <a:latin typeface="Segoe UI"/>
                <a:ea typeface="Segoe UI"/>
              </a:rPr>
              <a:t>5 справочников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: Продукция, контрагенты, организации и ск"/>
          <p:cNvSpPr/>
          <p:nvPr/>
        </p:nvSpPr>
        <p:spPr>
          <a:xfrm>
            <a:off x="3409920" y="2622600"/>
            <a:ext cx="39193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</a:pPr>
            <a:r>
              <a:rPr b="0" lang="en-US" sz="1400" spc="-4" strike="noStrike">
                <a:solidFill>
                  <a:srgbClr val="5f6368"/>
                </a:solidFill>
                <a:latin typeface="Segoe UI"/>
                <a:ea typeface="Segoe UI"/>
              </a:rPr>
              <a:t>Продукция, контрагенты, организации и склады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Border"/>
          <p:cNvSpPr/>
          <p:nvPr/>
        </p:nvSpPr>
        <p:spPr>
          <a:xfrm>
            <a:off x="996840" y="3600360"/>
            <a:ext cx="10197720" cy="6120"/>
          </a:xfrm>
          <a:prstGeom prst="rect">
            <a:avLst/>
          </a:prstGeom>
          <a:solidFill>
            <a:srgbClr val="e8e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8520" bIns="-3852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: 3 документа"/>
          <p:cNvSpPr/>
          <p:nvPr/>
        </p:nvSpPr>
        <p:spPr>
          <a:xfrm>
            <a:off x="996840" y="3168720"/>
            <a:ext cx="11088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51"/>
              </a:lnSpc>
            </a:pPr>
            <a:r>
              <a:rPr b="1" lang="en-US" sz="1500" spc="-4" strike="noStrike">
                <a:solidFill>
                  <a:srgbClr val="202124"/>
                </a:solidFill>
                <a:latin typeface="Segoe UI"/>
                <a:ea typeface="Segoe UI"/>
              </a:rPr>
              <a:t>3 документа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: Приход, Расход, Бронирование"/>
          <p:cNvSpPr/>
          <p:nvPr/>
        </p:nvSpPr>
        <p:spPr>
          <a:xfrm>
            <a:off x="3409920" y="3168720"/>
            <a:ext cx="25412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</a:pPr>
            <a:r>
              <a:rPr b="0" lang="en-US" sz="1400" spc="-4" strike="noStrike">
                <a:solidFill>
                  <a:srgbClr val="5f6368"/>
                </a:solidFill>
                <a:latin typeface="Segoe UI"/>
                <a:ea typeface="Segoe UI"/>
              </a:rPr>
              <a:t>Приход, Расход, Бронирование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Border"/>
          <p:cNvSpPr/>
          <p:nvPr/>
        </p:nvSpPr>
        <p:spPr>
          <a:xfrm>
            <a:off x="996840" y="4146480"/>
            <a:ext cx="10197720" cy="6120"/>
          </a:xfrm>
          <a:prstGeom prst="rect">
            <a:avLst/>
          </a:prstGeom>
          <a:solidFill>
            <a:srgbClr val="e8e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8520" bIns="-3852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: Регистр сведений"/>
          <p:cNvSpPr/>
          <p:nvPr/>
        </p:nvSpPr>
        <p:spPr>
          <a:xfrm>
            <a:off x="996840" y="3714840"/>
            <a:ext cx="15760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51"/>
              </a:lnSpc>
            </a:pPr>
            <a:r>
              <a:rPr b="1" lang="en-US" sz="1500" spc="-4" strike="noStrike">
                <a:solidFill>
                  <a:srgbClr val="202124"/>
                </a:solidFill>
                <a:latin typeface="Segoe UI"/>
                <a:ea typeface="Segoe UI"/>
              </a:rPr>
              <a:t>Регистр сведений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: Цены продукции по датам"/>
          <p:cNvSpPr/>
          <p:nvPr/>
        </p:nvSpPr>
        <p:spPr>
          <a:xfrm>
            <a:off x="3409920" y="3714840"/>
            <a:ext cx="21668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</a:pPr>
            <a:r>
              <a:rPr b="0" lang="en-US" sz="1400" spc="-4" strike="noStrike">
                <a:solidFill>
                  <a:srgbClr val="5f6368"/>
                </a:solidFill>
                <a:latin typeface="Segoe UI"/>
                <a:ea typeface="Segoe UI"/>
              </a:rPr>
              <a:t>Цены продукции по датам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Border"/>
          <p:cNvSpPr/>
          <p:nvPr/>
        </p:nvSpPr>
        <p:spPr>
          <a:xfrm>
            <a:off x="996840" y="4692600"/>
            <a:ext cx="10197720" cy="6120"/>
          </a:xfrm>
          <a:prstGeom prst="rect">
            <a:avLst/>
          </a:prstGeom>
          <a:solidFill>
            <a:srgbClr val="e8e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8520" bIns="-3852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: 2 регистра накопления"/>
          <p:cNvSpPr/>
          <p:nvPr/>
        </p:nvSpPr>
        <p:spPr>
          <a:xfrm>
            <a:off x="996840" y="4260960"/>
            <a:ext cx="20617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51"/>
              </a:lnSpc>
            </a:pPr>
            <a:r>
              <a:rPr b="1" lang="en-US" sz="1500" spc="-4" strike="noStrike">
                <a:solidFill>
                  <a:srgbClr val="202124"/>
                </a:solidFill>
                <a:latin typeface="Segoe UI"/>
                <a:ea typeface="Segoe UI"/>
              </a:rPr>
              <a:t>2 регистра накопления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: ОстаткиПродукции и РезервыПродукции"/>
          <p:cNvSpPr/>
          <p:nvPr/>
        </p:nvSpPr>
        <p:spPr>
          <a:xfrm>
            <a:off x="3409920" y="4260960"/>
            <a:ext cx="3357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</a:pPr>
            <a:r>
              <a:rPr b="0" lang="en-US" sz="1400" spc="-4" strike="noStrike">
                <a:solidFill>
                  <a:srgbClr val="5f6368"/>
                </a:solidFill>
                <a:latin typeface="Segoe UI"/>
                <a:ea typeface="Segoe UI"/>
              </a:rPr>
              <a:t>ОстаткиПродукции и РезервыПродукции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: Разделы «Покупка» и «Продажа» объединяют"/>
          <p:cNvSpPr/>
          <p:nvPr/>
        </p:nvSpPr>
        <p:spPr>
          <a:xfrm>
            <a:off x="762120" y="4946760"/>
            <a:ext cx="60591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</a:pPr>
            <a:r>
              <a:rPr b="0" lang="en-US" sz="1300" spc="-4" strike="noStrike">
                <a:solidFill>
                  <a:srgbClr val="5f6368"/>
                </a:solidFill>
                <a:latin typeface="Segoe UI"/>
                <a:ea typeface="Segoe UI"/>
              </a:rPr>
              <a:t>Разделы «Покупка» и «Продажа» объединяют команды по задачам сотрудника.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: Молочная ферма Луговая"/>
          <p:cNvSpPr/>
          <p:nvPr/>
        </p:nvSpPr>
        <p:spPr>
          <a:xfrm>
            <a:off x="914400" y="6273720"/>
            <a:ext cx="1509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</a:pPr>
            <a:r>
              <a:rPr b="0" lang="en-US" sz="1000" spc="-4" strike="noStrike">
                <a:solidFill>
                  <a:srgbClr val="5f6368"/>
                </a:solidFill>
                <a:latin typeface="Segoe UI"/>
                <a:ea typeface="Segoe UI"/>
              </a:rPr>
              <a:t>Молочная ферма Луговая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Ellipse"/>
          <p:cNvSpPr/>
          <p:nvPr/>
        </p:nvSpPr>
        <p:spPr>
          <a:xfrm>
            <a:off x="762120" y="6343560"/>
            <a:ext cx="75960" cy="75960"/>
          </a:xfrm>
          <a:prstGeom prst="ellipse">
            <a:avLst/>
          </a:prstGeom>
          <a:solidFill>
            <a:srgbClr val="1a73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: 3 / 11"/>
          <p:cNvSpPr/>
          <p:nvPr/>
        </p:nvSpPr>
        <p:spPr>
          <a:xfrm>
            <a:off x="11108520" y="6273720"/>
            <a:ext cx="321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</a:pPr>
            <a:r>
              <a:rPr b="0" lang="en-US" sz="1000" spc="-4" strike="noStrike">
                <a:solidFill>
                  <a:srgbClr val="5f6368"/>
                </a:solidFill>
                <a:latin typeface="Segoe UI"/>
                <a:ea typeface="Segoe UI"/>
              </a:rPr>
              <a:t>3 / 11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ounded Rectangle"/>
          <p:cNvSpPr/>
          <p:nvPr/>
        </p:nvSpPr>
        <p:spPr>
          <a:xfrm>
            <a:off x="762120" y="635040"/>
            <a:ext cx="987120" cy="27252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: Оформление"/>
          <p:cNvSpPr/>
          <p:nvPr/>
        </p:nvSpPr>
        <p:spPr>
          <a:xfrm>
            <a:off x="876240" y="673200"/>
            <a:ext cx="75852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</a:pPr>
            <a:r>
              <a:rPr b="1" lang="en-US" sz="900" spc="35" strike="noStrike">
                <a:solidFill>
                  <a:srgbClr val="ffffff"/>
                </a:solidFill>
                <a:latin typeface="Segoe UI"/>
                <a:ea typeface="Segoe UI"/>
              </a:rPr>
              <a:t>Оформление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: Рабочий стол и оформление"/>
          <p:cNvSpPr/>
          <p:nvPr/>
        </p:nvSpPr>
        <p:spPr>
          <a:xfrm>
            <a:off x="762120" y="984240"/>
            <a:ext cx="5798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</a:pPr>
            <a:r>
              <a:rPr b="1" lang="en-US" sz="3200" spc="-4" strike="noStrike">
                <a:solidFill>
                  <a:srgbClr val="202124"/>
                </a:solidFill>
                <a:latin typeface="Arial"/>
                <a:ea typeface="Arial"/>
              </a:rPr>
              <a:t>Рабочий стол и оформление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: Зелёный акцент выделяет основные действи"/>
          <p:cNvSpPr/>
          <p:nvPr/>
        </p:nvSpPr>
        <p:spPr>
          <a:xfrm>
            <a:off x="762120" y="1733400"/>
            <a:ext cx="58161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</a:pPr>
            <a:r>
              <a:rPr b="0" lang="en-US" sz="1300" spc="-4" strike="noStrike">
                <a:solidFill>
                  <a:srgbClr val="5f6368"/>
                </a:solidFill>
                <a:latin typeface="Segoe UI"/>
                <a:ea typeface="Segoe UI"/>
              </a:rPr>
              <a:t>Зелёный акцент выделяет основные действия, журналы имеют светлый фон.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Rounded Rectangle"/>
          <p:cNvSpPr/>
          <p:nvPr/>
        </p:nvSpPr>
        <p:spPr>
          <a:xfrm>
            <a:off x="765000" y="2251080"/>
            <a:ext cx="10661400" cy="8220240"/>
          </a:xfrm>
          <a:prstGeom prst="roundRect">
            <a:avLst>
              <a:gd name="adj" fmla="val 1815"/>
            </a:avLst>
          </a:prstGeom>
          <a:noFill/>
          <a:ln w="6350">
            <a:solidFill>
              <a:srgbClr val="e8eae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Image: Рабочий стол 1С" descr=""/>
          <p:cNvPicPr/>
          <p:nvPr/>
        </p:nvPicPr>
        <p:blipFill>
          <a:blip r:embed="rId1"/>
          <a:srcRect l="0" t="0" r="0" b="43950"/>
          <a:stretch/>
        </p:blipFill>
        <p:spPr>
          <a:xfrm>
            <a:off x="768240" y="2254320"/>
            <a:ext cx="10654920" cy="4603320"/>
          </a:xfrm>
          <a:prstGeom prst="rect">
            <a:avLst/>
          </a:prstGeom>
          <a:ln w="0">
            <a:noFill/>
          </a:ln>
        </p:spPr>
      </p:pic>
      <p:sp>
        <p:nvSpPr>
          <p:cNvPr id="92" name="Text: Молочная ферма Луговая"/>
          <p:cNvSpPr/>
          <p:nvPr/>
        </p:nvSpPr>
        <p:spPr>
          <a:xfrm>
            <a:off x="914400" y="6273720"/>
            <a:ext cx="1509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</a:pPr>
            <a:r>
              <a:rPr b="0" lang="en-US" sz="1000" spc="-4" strike="noStrike">
                <a:solidFill>
                  <a:srgbClr val="5f6368"/>
                </a:solidFill>
                <a:latin typeface="Segoe UI"/>
                <a:ea typeface="Segoe UI"/>
              </a:rPr>
              <a:t>Молочная ферма Луговая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Ellipse"/>
          <p:cNvSpPr/>
          <p:nvPr/>
        </p:nvSpPr>
        <p:spPr>
          <a:xfrm>
            <a:off x="762120" y="6343560"/>
            <a:ext cx="75960" cy="75960"/>
          </a:xfrm>
          <a:prstGeom prst="ellipse">
            <a:avLst/>
          </a:prstGeom>
          <a:solidFill>
            <a:srgbClr val="1a73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: 4 / 11"/>
          <p:cNvSpPr/>
          <p:nvPr/>
        </p:nvSpPr>
        <p:spPr>
          <a:xfrm>
            <a:off x="11108520" y="6273720"/>
            <a:ext cx="321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</a:pPr>
            <a:r>
              <a:rPr b="0" lang="en-US" sz="1000" spc="-4" strike="noStrike">
                <a:solidFill>
                  <a:srgbClr val="5f6368"/>
                </a:solidFill>
                <a:latin typeface="Segoe UI"/>
                <a:ea typeface="Segoe UI"/>
              </a:rPr>
              <a:t>4 / 11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"/>
          <p:cNvSpPr/>
          <p:nvPr/>
        </p:nvSpPr>
        <p:spPr>
          <a:xfrm>
            <a:off x="762120" y="635040"/>
            <a:ext cx="815760" cy="2725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: Операции"/>
          <p:cNvSpPr/>
          <p:nvPr/>
        </p:nvSpPr>
        <p:spPr>
          <a:xfrm>
            <a:off x="876240" y="673200"/>
            <a:ext cx="5871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</a:pPr>
            <a:r>
              <a:rPr b="1" lang="en-US" sz="900" spc="35" strike="noStrike">
                <a:solidFill>
                  <a:srgbClr val="ffffff"/>
                </a:solidFill>
                <a:latin typeface="Segoe UI"/>
                <a:ea typeface="Segoe UI"/>
              </a:rPr>
              <a:t>Операции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: Поступление и продажа продукции"/>
          <p:cNvSpPr/>
          <p:nvPr/>
        </p:nvSpPr>
        <p:spPr>
          <a:xfrm>
            <a:off x="762120" y="984240"/>
            <a:ext cx="71323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</a:pPr>
            <a:r>
              <a:rPr b="1" lang="en-US" sz="3200" spc="-4" strike="noStrike">
                <a:solidFill>
                  <a:srgbClr val="202124"/>
                </a:solidFill>
                <a:latin typeface="Arial"/>
                <a:ea typeface="Arial"/>
              </a:rPr>
              <a:t>Поступление и продажа продукции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Rounded Rectangle"/>
          <p:cNvSpPr/>
          <p:nvPr/>
        </p:nvSpPr>
        <p:spPr>
          <a:xfrm>
            <a:off x="765000" y="1927080"/>
            <a:ext cx="10661400" cy="2095200"/>
          </a:xfrm>
          <a:prstGeom prst="roundRect">
            <a:avLst>
              <a:gd name="adj" fmla="val 7121"/>
            </a:avLst>
          </a:prstGeom>
          <a:solidFill>
            <a:srgbClr val="f7f9fc"/>
          </a:solidFill>
          <a:ln w="6350">
            <a:solidFill>
              <a:srgbClr val="e8eae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Border"/>
          <p:cNvSpPr/>
          <p:nvPr/>
        </p:nvSpPr>
        <p:spPr>
          <a:xfrm>
            <a:off x="996840" y="2457360"/>
            <a:ext cx="10197720" cy="6120"/>
          </a:xfrm>
          <a:prstGeom prst="rect">
            <a:avLst/>
          </a:prstGeom>
          <a:solidFill>
            <a:srgbClr val="e8e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8520" bIns="-3852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: Продукция"/>
          <p:cNvSpPr/>
          <p:nvPr/>
        </p:nvSpPr>
        <p:spPr>
          <a:xfrm>
            <a:off x="996840" y="2082960"/>
            <a:ext cx="91188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</a:pPr>
            <a:r>
              <a:rPr b="1" lang="en-US" sz="1300" spc="-4" strike="noStrike">
                <a:solidFill>
                  <a:srgbClr val="1a73e8"/>
                </a:solidFill>
                <a:latin typeface="Segoe UI"/>
                <a:ea typeface="Segoe UI"/>
              </a:rPr>
              <a:t>Продукция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: Приход"/>
          <p:cNvSpPr/>
          <p:nvPr/>
        </p:nvSpPr>
        <p:spPr>
          <a:xfrm>
            <a:off x="4630320" y="2082960"/>
            <a:ext cx="6206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1950"/>
              </a:lnSpc>
            </a:pPr>
            <a:r>
              <a:rPr b="1" lang="en-US" sz="1300" spc="-4" strike="noStrike">
                <a:solidFill>
                  <a:srgbClr val="1a73e8"/>
                </a:solidFill>
                <a:latin typeface="Segoe UI"/>
                <a:ea typeface="Segoe UI"/>
              </a:rPr>
              <a:t>Приход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: Продажа"/>
          <p:cNvSpPr/>
          <p:nvPr/>
        </p:nvSpPr>
        <p:spPr>
          <a:xfrm>
            <a:off x="5903640" y="2082960"/>
            <a:ext cx="7441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1950"/>
              </a:lnSpc>
            </a:pPr>
            <a:r>
              <a:rPr b="1" lang="en-US" sz="1300" spc="-4" strike="noStrike">
                <a:solidFill>
                  <a:srgbClr val="1a73e8"/>
                </a:solidFill>
                <a:latin typeface="Segoe UI"/>
                <a:ea typeface="Segoe UI"/>
              </a:rPr>
              <a:t>Продажа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: Остаток"/>
          <p:cNvSpPr/>
          <p:nvPr/>
        </p:nvSpPr>
        <p:spPr>
          <a:xfrm>
            <a:off x="7414560" y="2082960"/>
            <a:ext cx="6303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1950"/>
              </a:lnSpc>
            </a:pPr>
            <a:r>
              <a:rPr b="1" lang="en-US" sz="1300" spc="-4" strike="noStrike">
                <a:solidFill>
                  <a:srgbClr val="1a73e8"/>
                </a:solidFill>
                <a:latin typeface="Segoe UI"/>
                <a:ea typeface="Segoe UI"/>
              </a:rPr>
              <a:t>Остаток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Border"/>
          <p:cNvSpPr/>
          <p:nvPr/>
        </p:nvSpPr>
        <p:spPr>
          <a:xfrm>
            <a:off x="996840" y="2959200"/>
            <a:ext cx="10197720" cy="6120"/>
          </a:xfrm>
          <a:prstGeom prst="rect">
            <a:avLst/>
          </a:prstGeom>
          <a:solidFill>
            <a:srgbClr val="e8e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8520" bIns="-3852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: Молоко 3,2%"/>
          <p:cNvSpPr/>
          <p:nvPr/>
        </p:nvSpPr>
        <p:spPr>
          <a:xfrm>
            <a:off x="996840" y="2558880"/>
            <a:ext cx="10728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Молоко 3,2%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: 100 л"/>
          <p:cNvSpPr/>
          <p:nvPr/>
        </p:nvSpPr>
        <p:spPr>
          <a:xfrm>
            <a:off x="4824000" y="2558880"/>
            <a:ext cx="4269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100 л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: 25 л"/>
          <p:cNvSpPr/>
          <p:nvPr/>
        </p:nvSpPr>
        <p:spPr>
          <a:xfrm>
            <a:off x="6316200" y="2558880"/>
            <a:ext cx="3315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25 л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: 75 л"/>
          <p:cNvSpPr/>
          <p:nvPr/>
        </p:nvSpPr>
        <p:spPr>
          <a:xfrm>
            <a:off x="7713360" y="2558880"/>
            <a:ext cx="3315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75 л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Border"/>
          <p:cNvSpPr/>
          <p:nvPr/>
        </p:nvSpPr>
        <p:spPr>
          <a:xfrm>
            <a:off x="996840" y="3460680"/>
            <a:ext cx="10197720" cy="6120"/>
          </a:xfrm>
          <a:prstGeom prst="rect">
            <a:avLst/>
          </a:prstGeom>
          <a:solidFill>
            <a:srgbClr val="e8e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8520" bIns="-3852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: Творог 9%"/>
          <p:cNvSpPr/>
          <p:nvPr/>
        </p:nvSpPr>
        <p:spPr>
          <a:xfrm>
            <a:off x="996840" y="3060720"/>
            <a:ext cx="8535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Творог 9%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: 20 кг"/>
          <p:cNvSpPr/>
          <p:nvPr/>
        </p:nvSpPr>
        <p:spPr>
          <a:xfrm>
            <a:off x="4857120" y="3060720"/>
            <a:ext cx="3942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20 кг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: 5 кг"/>
          <p:cNvSpPr/>
          <p:nvPr/>
        </p:nvSpPr>
        <p:spPr>
          <a:xfrm>
            <a:off x="6349320" y="3060720"/>
            <a:ext cx="2988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5 кг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: 15 кг"/>
          <p:cNvSpPr/>
          <p:nvPr/>
        </p:nvSpPr>
        <p:spPr>
          <a:xfrm>
            <a:off x="7651080" y="3060720"/>
            <a:ext cx="3942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15 кг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Border"/>
          <p:cNvSpPr/>
          <p:nvPr/>
        </p:nvSpPr>
        <p:spPr>
          <a:xfrm>
            <a:off x="996840" y="3962520"/>
            <a:ext cx="10197720" cy="6120"/>
          </a:xfrm>
          <a:prstGeom prst="rect">
            <a:avLst/>
          </a:prstGeom>
          <a:solidFill>
            <a:srgbClr val="e8e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8520" bIns="-3852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: Сметана 20%"/>
          <p:cNvSpPr/>
          <p:nvPr/>
        </p:nvSpPr>
        <p:spPr>
          <a:xfrm>
            <a:off x="996840" y="3562200"/>
            <a:ext cx="10645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Сметана 20%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: 15 кг"/>
          <p:cNvSpPr/>
          <p:nvPr/>
        </p:nvSpPr>
        <p:spPr>
          <a:xfrm>
            <a:off x="4857120" y="3562200"/>
            <a:ext cx="3942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15 кг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: 3 кг"/>
          <p:cNvSpPr/>
          <p:nvPr/>
        </p:nvSpPr>
        <p:spPr>
          <a:xfrm>
            <a:off x="6349320" y="3562200"/>
            <a:ext cx="2988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3 кг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: 12 кг"/>
          <p:cNvSpPr/>
          <p:nvPr/>
        </p:nvSpPr>
        <p:spPr>
          <a:xfrm>
            <a:off x="7651080" y="3562200"/>
            <a:ext cx="3942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12 кг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: Документ «Приход» увеличивает складской "/>
          <p:cNvSpPr/>
          <p:nvPr/>
        </p:nvSpPr>
        <p:spPr>
          <a:xfrm>
            <a:off x="762120" y="4216320"/>
            <a:ext cx="609228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</a:pPr>
            <a:r>
              <a:rPr b="0" lang="en-US" sz="1300" spc="-4" strike="noStrike">
                <a:solidFill>
                  <a:srgbClr val="5f6368"/>
                </a:solidFill>
                <a:latin typeface="Segoe UI"/>
                <a:ea typeface="Segoe UI"/>
              </a:rPr>
              <a:t>Документ «Приход» увеличивает складской остаток, «Расход» — уменьшает его.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: 4 890 руб."/>
          <p:cNvSpPr/>
          <p:nvPr/>
        </p:nvSpPr>
        <p:spPr>
          <a:xfrm>
            <a:off x="762120" y="4622760"/>
            <a:ext cx="160956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900"/>
              </a:lnSpc>
            </a:pPr>
            <a:r>
              <a:rPr b="1" lang="en-US" sz="2600" spc="-4" strike="noStrike">
                <a:solidFill>
                  <a:srgbClr val="34a853"/>
                </a:solidFill>
                <a:latin typeface="Segoe UI"/>
                <a:ea typeface="Segoe UI"/>
              </a:rPr>
              <a:t>4 890 руб.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: Сумма продажи по ценам 90, 360 и 280 руб"/>
          <p:cNvSpPr/>
          <p:nvPr/>
        </p:nvSpPr>
        <p:spPr>
          <a:xfrm>
            <a:off x="2524320" y="4775040"/>
            <a:ext cx="3903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</a:pPr>
            <a:r>
              <a:rPr b="0" lang="en-US" sz="1200" spc="-4" strike="noStrike">
                <a:solidFill>
                  <a:srgbClr val="5f6368"/>
                </a:solidFill>
                <a:latin typeface="Segoe UI"/>
                <a:ea typeface="Segoe UI"/>
              </a:rPr>
              <a:t>Сумма продажи по ценам 90, 360 и 280 руб. за единицу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: Молочная ферма Луговая"/>
          <p:cNvSpPr/>
          <p:nvPr/>
        </p:nvSpPr>
        <p:spPr>
          <a:xfrm>
            <a:off x="914400" y="6273720"/>
            <a:ext cx="1509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</a:pPr>
            <a:r>
              <a:rPr b="0" lang="en-US" sz="1000" spc="-4" strike="noStrike">
                <a:solidFill>
                  <a:srgbClr val="5f6368"/>
                </a:solidFill>
                <a:latin typeface="Segoe UI"/>
                <a:ea typeface="Segoe UI"/>
              </a:rPr>
              <a:t>Молочная ферма Луговая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Ellipse"/>
          <p:cNvSpPr/>
          <p:nvPr/>
        </p:nvSpPr>
        <p:spPr>
          <a:xfrm>
            <a:off x="762120" y="6343560"/>
            <a:ext cx="75960" cy="75960"/>
          </a:xfrm>
          <a:prstGeom prst="ellipse">
            <a:avLst/>
          </a:prstGeom>
          <a:solidFill>
            <a:srgbClr val="1a73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: 5 / 11"/>
          <p:cNvSpPr/>
          <p:nvPr/>
        </p:nvSpPr>
        <p:spPr>
          <a:xfrm>
            <a:off x="11108520" y="6273720"/>
            <a:ext cx="321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</a:pPr>
            <a:r>
              <a:rPr b="0" lang="en-US" sz="1000" spc="-4" strike="noStrike">
                <a:solidFill>
                  <a:srgbClr val="5f6368"/>
                </a:solidFill>
                <a:latin typeface="Segoe UI"/>
                <a:ea typeface="Segoe UI"/>
              </a:rPr>
              <a:t>5 / 11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ounded Rectangle"/>
          <p:cNvSpPr/>
          <p:nvPr/>
        </p:nvSpPr>
        <p:spPr>
          <a:xfrm>
            <a:off x="762120" y="635040"/>
            <a:ext cx="780120" cy="27252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: Контроль"/>
          <p:cNvSpPr/>
          <p:nvPr/>
        </p:nvSpPr>
        <p:spPr>
          <a:xfrm>
            <a:off x="876240" y="673200"/>
            <a:ext cx="55152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</a:pPr>
            <a:r>
              <a:rPr b="1" lang="en-US" sz="900" spc="35" strike="noStrike">
                <a:solidFill>
                  <a:srgbClr val="ffffff"/>
                </a:solidFill>
                <a:latin typeface="Segoe UI"/>
                <a:ea typeface="Segoe UI"/>
              </a:rPr>
              <a:t>Контроль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: Отчёты и контроль результата"/>
          <p:cNvSpPr/>
          <p:nvPr/>
        </p:nvSpPr>
        <p:spPr>
          <a:xfrm>
            <a:off x="762120" y="984240"/>
            <a:ext cx="6191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</a:pPr>
            <a:r>
              <a:rPr b="1" lang="en-US" sz="3200" spc="-4" strike="noStrike">
                <a:solidFill>
                  <a:srgbClr val="202124"/>
                </a:solidFill>
                <a:latin typeface="Arial"/>
                <a:ea typeface="Arial"/>
              </a:rPr>
              <a:t>Отчёты и контроль результата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: Остатки продукции"/>
          <p:cNvSpPr/>
          <p:nvPr/>
        </p:nvSpPr>
        <p:spPr>
          <a:xfrm>
            <a:off x="762120" y="1727280"/>
            <a:ext cx="19843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</a:pPr>
            <a:r>
              <a:rPr b="1" lang="en-US" sz="1700" spc="-4" strike="noStrike">
                <a:solidFill>
                  <a:srgbClr val="202124"/>
                </a:solidFill>
                <a:latin typeface="Segoe UI"/>
                <a:ea typeface="Segoe UI"/>
              </a:rPr>
              <a:t>Остатки продукции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: Количество по организации, складу и това"/>
          <p:cNvSpPr/>
          <p:nvPr/>
        </p:nvSpPr>
        <p:spPr>
          <a:xfrm>
            <a:off x="762120" y="2108160"/>
            <a:ext cx="45403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</a:pPr>
            <a:r>
              <a:rPr b="0" lang="en-US" sz="1300" spc="-4" strike="noStrike">
                <a:solidFill>
                  <a:srgbClr val="5f6368"/>
                </a:solidFill>
                <a:latin typeface="Segoe UI"/>
                <a:ea typeface="Segoe UI"/>
              </a:rPr>
              <a:t>Количество по организации, складу и товару. В версии 1.2.0</a:t>
            </a:r>
            <a:br>
              <a:rPr sz="1300"/>
            </a:br>
            <a:r>
              <a:rPr b="0" lang="en-US" sz="1300" spc="-4" strike="noStrike">
                <a:solidFill>
                  <a:srgbClr val="5f6368"/>
                </a:solidFill>
                <a:latin typeface="Segoe UI"/>
                <a:ea typeface="Segoe UI"/>
              </a:rPr>
              <a:t>отдельно видны резерв и свободный остаток.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: Продажи за период"/>
          <p:cNvSpPr/>
          <p:nvPr/>
        </p:nvSpPr>
        <p:spPr>
          <a:xfrm>
            <a:off x="6273720" y="1727280"/>
            <a:ext cx="20311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</a:pPr>
            <a:r>
              <a:rPr b="1" lang="en-US" sz="1700" spc="-4" strike="noStrike">
                <a:solidFill>
                  <a:srgbClr val="202124"/>
                </a:solidFill>
                <a:latin typeface="Segoe UI"/>
                <a:ea typeface="Segoe UI"/>
              </a:rPr>
              <a:t>Продажи за период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: Количество и сумма продаж с отбором по о"/>
          <p:cNvSpPr/>
          <p:nvPr/>
        </p:nvSpPr>
        <p:spPr>
          <a:xfrm>
            <a:off x="6273720" y="2108160"/>
            <a:ext cx="496080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</a:pPr>
            <a:r>
              <a:rPr b="0" lang="en-US" sz="1300" spc="-4" strike="noStrike">
                <a:solidFill>
                  <a:srgbClr val="5f6368"/>
                </a:solidFill>
                <a:latin typeface="Segoe UI"/>
                <a:ea typeface="Segoe UI"/>
              </a:rPr>
              <a:t>Количество и сумма продаж с отбором по организации и складу.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Rounded Rectangle"/>
          <p:cNvSpPr/>
          <p:nvPr/>
        </p:nvSpPr>
        <p:spPr>
          <a:xfrm>
            <a:off x="765000" y="2822400"/>
            <a:ext cx="10661400" cy="4695840"/>
          </a:xfrm>
          <a:prstGeom prst="roundRect">
            <a:avLst>
              <a:gd name="adj" fmla="val 3178"/>
            </a:avLst>
          </a:prstGeom>
          <a:noFill/>
          <a:ln w="6350">
            <a:solidFill>
              <a:srgbClr val="e8eae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3" name="Image: Отчёт об остатках" descr=""/>
          <p:cNvPicPr/>
          <p:nvPr/>
        </p:nvPicPr>
        <p:blipFill>
          <a:blip r:embed="rId1"/>
          <a:srcRect l="0" t="0" r="0" b="14019"/>
          <a:stretch/>
        </p:blipFill>
        <p:spPr>
          <a:xfrm>
            <a:off x="768240" y="2825640"/>
            <a:ext cx="10654920" cy="4032000"/>
          </a:xfrm>
          <a:prstGeom prst="rect">
            <a:avLst/>
          </a:prstGeom>
          <a:ln w="0">
            <a:noFill/>
          </a:ln>
        </p:spPr>
      </p:pic>
      <p:sp>
        <p:nvSpPr>
          <p:cNvPr id="134" name="Text: Снимок ранней версии иллюстрирует складс"/>
          <p:cNvSpPr/>
          <p:nvPr/>
        </p:nvSpPr>
        <p:spPr>
          <a:xfrm>
            <a:off x="762120" y="7636320"/>
            <a:ext cx="54205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650"/>
              </a:lnSpc>
            </a:pPr>
            <a:r>
              <a:rPr b="0" lang="en-US" sz="1100" spc="-4" strike="noStrike">
                <a:solidFill>
                  <a:srgbClr val="5f6368"/>
                </a:solidFill>
                <a:latin typeface="Segoe UI"/>
                <a:ea typeface="Segoe UI"/>
              </a:rPr>
              <a:t>Снимок ранней версии иллюстрирует складские количества контрольного примера.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: Молочная ферма Луговая"/>
          <p:cNvSpPr/>
          <p:nvPr/>
        </p:nvSpPr>
        <p:spPr>
          <a:xfrm>
            <a:off x="914400" y="6273720"/>
            <a:ext cx="1509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</a:pPr>
            <a:r>
              <a:rPr b="0" lang="en-US" sz="1000" spc="-4" strike="noStrike">
                <a:solidFill>
                  <a:srgbClr val="5f6368"/>
                </a:solidFill>
                <a:latin typeface="Segoe UI"/>
                <a:ea typeface="Segoe UI"/>
              </a:rPr>
              <a:t>Молочная ферма Луговая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Ellipse"/>
          <p:cNvSpPr/>
          <p:nvPr/>
        </p:nvSpPr>
        <p:spPr>
          <a:xfrm>
            <a:off x="762120" y="6343560"/>
            <a:ext cx="75960" cy="75960"/>
          </a:xfrm>
          <a:prstGeom prst="ellipse">
            <a:avLst/>
          </a:prstGeom>
          <a:solidFill>
            <a:srgbClr val="1a73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: 6 / 11"/>
          <p:cNvSpPr/>
          <p:nvPr/>
        </p:nvSpPr>
        <p:spPr>
          <a:xfrm>
            <a:off x="11108520" y="6273720"/>
            <a:ext cx="321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</a:pPr>
            <a:r>
              <a:rPr b="0" lang="en-US" sz="1000" spc="-4" strike="noStrike">
                <a:solidFill>
                  <a:srgbClr val="5f6368"/>
                </a:solidFill>
                <a:latin typeface="Segoe UI"/>
                <a:ea typeface="Segoe UI"/>
              </a:rPr>
              <a:t>6 / 11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ounded Rectangle"/>
          <p:cNvSpPr/>
          <p:nvPr/>
        </p:nvSpPr>
        <p:spPr>
          <a:xfrm>
            <a:off x="762120" y="635040"/>
            <a:ext cx="1082880" cy="2725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: Бронирование"/>
          <p:cNvSpPr/>
          <p:nvPr/>
        </p:nvSpPr>
        <p:spPr>
          <a:xfrm>
            <a:off x="876240" y="673200"/>
            <a:ext cx="8542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</a:pPr>
            <a:r>
              <a:rPr b="1" lang="en-US" sz="900" spc="35" strike="noStrike">
                <a:solidFill>
                  <a:srgbClr val="ffffff"/>
                </a:solidFill>
                <a:latin typeface="Segoe UI"/>
                <a:ea typeface="Segoe UI"/>
              </a:rPr>
              <a:t>Бронирование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: Бронирование для покупателя"/>
          <p:cNvSpPr/>
          <p:nvPr/>
        </p:nvSpPr>
        <p:spPr>
          <a:xfrm>
            <a:off x="762120" y="984240"/>
            <a:ext cx="62521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</a:pPr>
            <a:r>
              <a:rPr b="1" lang="en-US" sz="3200" spc="-4" strike="noStrike">
                <a:solidFill>
                  <a:srgbClr val="202124"/>
                </a:solidFill>
                <a:latin typeface="Arial"/>
                <a:ea typeface="Arial"/>
              </a:rPr>
              <a:t>Бронирование для покупателя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: Проведённая бронь исключает товар из сво"/>
          <p:cNvSpPr/>
          <p:nvPr/>
        </p:nvSpPr>
        <p:spPr>
          <a:xfrm>
            <a:off x="762120" y="1701720"/>
            <a:ext cx="50263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</a:pPr>
            <a:r>
              <a:rPr b="0" lang="en-US" sz="1400" spc="-4" strike="noStrike">
                <a:solidFill>
                  <a:srgbClr val="5f6368"/>
                </a:solidFill>
                <a:latin typeface="Segoe UI"/>
                <a:ea typeface="Segoe UI"/>
              </a:rPr>
              <a:t>Проведённая бронь исключает товар из свободных остатков.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Rounded Rectangle"/>
          <p:cNvSpPr/>
          <p:nvPr/>
        </p:nvSpPr>
        <p:spPr>
          <a:xfrm>
            <a:off x="765000" y="2244600"/>
            <a:ext cx="8210160" cy="1599840"/>
          </a:xfrm>
          <a:prstGeom prst="roundRect">
            <a:avLst>
              <a:gd name="adj" fmla="val 9325"/>
            </a:avLst>
          </a:prstGeom>
          <a:solidFill>
            <a:srgbClr val="f7f9fc"/>
          </a:solidFill>
          <a:ln w="6350">
            <a:solidFill>
              <a:srgbClr val="e8eae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Border"/>
          <p:cNvSpPr/>
          <p:nvPr/>
        </p:nvSpPr>
        <p:spPr>
          <a:xfrm>
            <a:off x="996840" y="2774880"/>
            <a:ext cx="7746480" cy="6120"/>
          </a:xfrm>
          <a:prstGeom prst="rect">
            <a:avLst/>
          </a:prstGeom>
          <a:solidFill>
            <a:srgbClr val="e8e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8520" bIns="-3852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: Молоко, л"/>
          <p:cNvSpPr/>
          <p:nvPr/>
        </p:nvSpPr>
        <p:spPr>
          <a:xfrm>
            <a:off x="996840" y="2400480"/>
            <a:ext cx="8348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</a:pPr>
            <a:r>
              <a:rPr b="1" lang="en-US" sz="1300" spc="-4" strike="noStrike">
                <a:solidFill>
                  <a:srgbClr val="1a73e8"/>
                </a:solidFill>
                <a:latin typeface="Segoe UI"/>
                <a:ea typeface="Segoe UI"/>
              </a:rPr>
              <a:t>Молоко, л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: На складе"/>
          <p:cNvSpPr/>
          <p:nvPr/>
        </p:nvSpPr>
        <p:spPr>
          <a:xfrm>
            <a:off x="4631400" y="2400480"/>
            <a:ext cx="8103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1950"/>
              </a:lnSpc>
            </a:pPr>
            <a:r>
              <a:rPr b="1" lang="en-US" sz="1300" spc="-4" strike="noStrike">
                <a:solidFill>
                  <a:srgbClr val="1a73e8"/>
                </a:solidFill>
                <a:latin typeface="Segoe UI"/>
                <a:ea typeface="Segoe UI"/>
              </a:rPr>
              <a:t>На складе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: В резерве"/>
          <p:cNvSpPr/>
          <p:nvPr/>
        </p:nvSpPr>
        <p:spPr>
          <a:xfrm>
            <a:off x="6298200" y="2400480"/>
            <a:ext cx="7941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1950"/>
              </a:lnSpc>
            </a:pPr>
            <a:r>
              <a:rPr b="1" lang="en-US" sz="1300" spc="-4" strike="noStrike">
                <a:solidFill>
                  <a:srgbClr val="1a73e8"/>
                </a:solidFill>
                <a:latin typeface="Segoe UI"/>
                <a:ea typeface="Segoe UI"/>
              </a:rPr>
              <a:t>В резерве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: Свободно"/>
          <p:cNvSpPr/>
          <p:nvPr/>
        </p:nvSpPr>
        <p:spPr>
          <a:xfrm>
            <a:off x="7944120" y="2400480"/>
            <a:ext cx="7995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1950"/>
              </a:lnSpc>
            </a:pPr>
            <a:r>
              <a:rPr b="1" lang="en-US" sz="1300" spc="-4" strike="noStrike">
                <a:solidFill>
                  <a:srgbClr val="1a73e8"/>
                </a:solidFill>
                <a:latin typeface="Segoe UI"/>
                <a:ea typeface="Segoe UI"/>
              </a:rPr>
              <a:t>Свободно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Border"/>
          <p:cNvSpPr/>
          <p:nvPr/>
        </p:nvSpPr>
        <p:spPr>
          <a:xfrm>
            <a:off x="996840" y="3276720"/>
            <a:ext cx="7746480" cy="6120"/>
          </a:xfrm>
          <a:prstGeom prst="rect">
            <a:avLst/>
          </a:prstGeom>
          <a:solidFill>
            <a:srgbClr val="e8e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8520" bIns="-3852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: До брони"/>
          <p:cNvSpPr/>
          <p:nvPr/>
        </p:nvSpPr>
        <p:spPr>
          <a:xfrm>
            <a:off x="996840" y="2876400"/>
            <a:ext cx="7894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До брони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: 75"/>
          <p:cNvSpPr/>
          <p:nvPr/>
        </p:nvSpPr>
        <p:spPr>
          <a:xfrm>
            <a:off x="5251320" y="2876400"/>
            <a:ext cx="1904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75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: 0"/>
          <p:cNvSpPr/>
          <p:nvPr/>
        </p:nvSpPr>
        <p:spPr>
          <a:xfrm>
            <a:off x="6997680" y="2876400"/>
            <a:ext cx="950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0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: 75"/>
          <p:cNvSpPr/>
          <p:nvPr/>
        </p:nvSpPr>
        <p:spPr>
          <a:xfrm>
            <a:off x="8553240" y="2876400"/>
            <a:ext cx="1904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75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Border"/>
          <p:cNvSpPr/>
          <p:nvPr/>
        </p:nvSpPr>
        <p:spPr>
          <a:xfrm>
            <a:off x="996840" y="3778200"/>
            <a:ext cx="7746480" cy="6120"/>
          </a:xfrm>
          <a:prstGeom prst="rect">
            <a:avLst/>
          </a:prstGeom>
          <a:solidFill>
            <a:srgbClr val="e8e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8520" bIns="-3852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: Бронь 20 л"/>
          <p:cNvSpPr/>
          <p:nvPr/>
        </p:nvSpPr>
        <p:spPr>
          <a:xfrm>
            <a:off x="996840" y="3378240"/>
            <a:ext cx="8798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Бронь 20 л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: 75"/>
          <p:cNvSpPr/>
          <p:nvPr/>
        </p:nvSpPr>
        <p:spPr>
          <a:xfrm>
            <a:off x="5251320" y="3378240"/>
            <a:ext cx="1904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75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: 20"/>
          <p:cNvSpPr/>
          <p:nvPr/>
        </p:nvSpPr>
        <p:spPr>
          <a:xfrm>
            <a:off x="6902280" y="3378240"/>
            <a:ext cx="1904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20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: 55"/>
          <p:cNvSpPr/>
          <p:nvPr/>
        </p:nvSpPr>
        <p:spPr>
          <a:xfrm>
            <a:off x="8553240" y="3378240"/>
            <a:ext cx="1904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55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Rounded Rectangle"/>
          <p:cNvSpPr/>
          <p:nvPr/>
        </p:nvSpPr>
        <p:spPr>
          <a:xfrm>
            <a:off x="9286920" y="2244600"/>
            <a:ext cx="2139480" cy="1599840"/>
          </a:xfrm>
          <a:prstGeom prst="roundRect">
            <a:avLst>
              <a:gd name="adj" fmla="val 9325"/>
            </a:avLst>
          </a:prstGeom>
          <a:solidFill>
            <a:srgbClr val="fff3f3"/>
          </a:solidFill>
          <a:ln w="6350">
            <a:solidFill>
              <a:srgbClr val="f5c6c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: Обычная продажа 56 л при свободных 55 л "/>
          <p:cNvSpPr/>
          <p:nvPr/>
        </p:nvSpPr>
        <p:spPr>
          <a:xfrm>
            <a:off x="9468000" y="2933640"/>
            <a:ext cx="175356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</a:pPr>
            <a:r>
              <a:rPr b="0" lang="en-US" sz="1300" spc="-4" strike="noStrike">
                <a:solidFill>
                  <a:srgbClr val="202124"/>
                </a:solidFill>
                <a:latin typeface="Segoe UI"/>
                <a:ea typeface="Segoe UI"/>
              </a:rPr>
              <a:t>Обычная продажа 56 л</a:t>
            </a:r>
            <a:br>
              <a:rPr sz="1300"/>
            </a:br>
            <a:r>
              <a:rPr b="0" lang="en-US" sz="1300" spc="-4" strike="noStrike">
                <a:solidFill>
                  <a:srgbClr val="202124"/>
                </a:solidFill>
                <a:latin typeface="Segoe UI"/>
                <a:ea typeface="Segoe UI"/>
              </a:rPr>
              <a:t>при свободных 55 л</a:t>
            </a:r>
            <a:br>
              <a:rPr sz="1300"/>
            </a:br>
            <a:r>
              <a:rPr b="0" lang="en-US" sz="1300" spc="-4" strike="noStrike">
                <a:solidFill>
                  <a:srgbClr val="202124"/>
                </a:solidFill>
                <a:latin typeface="Segoe UI"/>
                <a:ea typeface="Segoe UI"/>
              </a:rPr>
              <a:t>отклоняется.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: Свободно = На складе − В резерве"/>
          <p:cNvSpPr/>
          <p:nvPr/>
        </p:nvSpPr>
        <p:spPr>
          <a:xfrm>
            <a:off x="9468000" y="2387520"/>
            <a:ext cx="155160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</a:pPr>
            <a:r>
              <a:rPr b="1" lang="en-US" sz="1300" spc="-4" strike="noStrike">
                <a:solidFill>
                  <a:srgbClr val="202124"/>
                </a:solidFill>
                <a:latin typeface="Segoe UI"/>
                <a:ea typeface="Segoe UI"/>
              </a:rPr>
              <a:t>Свободно = На</a:t>
            </a:r>
            <a:br>
              <a:rPr sz="1300"/>
            </a:br>
            <a:r>
              <a:rPr b="1" lang="en-US" sz="1300" spc="-4" strike="noStrike">
                <a:solidFill>
                  <a:srgbClr val="202124"/>
                </a:solidFill>
                <a:latin typeface="Segoe UI"/>
                <a:ea typeface="Segoe UI"/>
              </a:rPr>
              <a:t>складе − В резерве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: Молочная ферма Луговая"/>
          <p:cNvSpPr/>
          <p:nvPr/>
        </p:nvSpPr>
        <p:spPr>
          <a:xfrm>
            <a:off x="914400" y="6273720"/>
            <a:ext cx="1509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</a:pPr>
            <a:r>
              <a:rPr b="0" lang="en-US" sz="1000" spc="-4" strike="noStrike">
                <a:solidFill>
                  <a:srgbClr val="5f6368"/>
                </a:solidFill>
                <a:latin typeface="Segoe UI"/>
                <a:ea typeface="Segoe UI"/>
              </a:rPr>
              <a:t>Молочная ферма Луговая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Ellipse"/>
          <p:cNvSpPr/>
          <p:nvPr/>
        </p:nvSpPr>
        <p:spPr>
          <a:xfrm>
            <a:off x="762120" y="6343560"/>
            <a:ext cx="75960" cy="75960"/>
          </a:xfrm>
          <a:prstGeom prst="ellipse">
            <a:avLst/>
          </a:prstGeom>
          <a:solidFill>
            <a:srgbClr val="1a73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: 7 / 11"/>
          <p:cNvSpPr/>
          <p:nvPr/>
        </p:nvSpPr>
        <p:spPr>
          <a:xfrm>
            <a:off x="11108520" y="6273720"/>
            <a:ext cx="321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</a:pPr>
            <a:r>
              <a:rPr b="0" lang="en-US" sz="1000" spc="-4" strike="noStrike">
                <a:solidFill>
                  <a:srgbClr val="5f6368"/>
                </a:solidFill>
                <a:latin typeface="Segoe UI"/>
                <a:ea typeface="Segoe UI"/>
              </a:rPr>
              <a:t>7 / 11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ounded Rectangle"/>
          <p:cNvSpPr/>
          <p:nvPr/>
        </p:nvSpPr>
        <p:spPr>
          <a:xfrm>
            <a:off x="762120" y="635040"/>
            <a:ext cx="982440" cy="2725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: Исход брони"/>
          <p:cNvSpPr/>
          <p:nvPr/>
        </p:nvSpPr>
        <p:spPr>
          <a:xfrm>
            <a:off x="876240" y="673200"/>
            <a:ext cx="7538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</a:pPr>
            <a:r>
              <a:rPr b="1" lang="en-US" sz="900" spc="35" strike="noStrike">
                <a:solidFill>
                  <a:srgbClr val="ffffff"/>
                </a:solidFill>
                <a:latin typeface="Segoe UI"/>
                <a:ea typeface="Segoe UI"/>
              </a:rPr>
              <a:t>Исход брони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: Продажа по брони или отмена"/>
          <p:cNvSpPr/>
          <p:nvPr/>
        </p:nvSpPr>
        <p:spPr>
          <a:xfrm>
            <a:off x="762120" y="984240"/>
            <a:ext cx="615348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</a:pPr>
            <a:r>
              <a:rPr b="1" lang="en-US" sz="3200" spc="-4" strike="noStrike">
                <a:solidFill>
                  <a:srgbClr val="202124"/>
                </a:solidFill>
                <a:latin typeface="Arial"/>
                <a:ea typeface="Arial"/>
              </a:rPr>
              <a:t>Продажа по брони или отмена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: Исходное состояние: на складе 75 л, в ре"/>
          <p:cNvSpPr/>
          <p:nvPr/>
        </p:nvSpPr>
        <p:spPr>
          <a:xfrm>
            <a:off x="762120" y="1708200"/>
            <a:ext cx="508428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</a:pPr>
            <a:r>
              <a:rPr b="0" lang="en-US" sz="1300" spc="-4" strike="noStrike">
                <a:solidFill>
                  <a:srgbClr val="5f6368"/>
                </a:solidFill>
                <a:latin typeface="Segoe UI"/>
                <a:ea typeface="Segoe UI"/>
              </a:rPr>
              <a:t>Исходное состояние: на складе 75 л, в резерве 20 л, свободно 55 л.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Rounded Rectangle"/>
          <p:cNvSpPr/>
          <p:nvPr/>
        </p:nvSpPr>
        <p:spPr>
          <a:xfrm>
            <a:off x="765000" y="2200320"/>
            <a:ext cx="5175000" cy="2107800"/>
          </a:xfrm>
          <a:prstGeom prst="roundRect">
            <a:avLst>
              <a:gd name="adj" fmla="val 7078"/>
            </a:avLst>
          </a:prstGeom>
          <a:solidFill>
            <a:srgbClr val="f2faf4"/>
          </a:solidFill>
          <a:ln w="6350">
            <a:solidFill>
              <a:srgbClr val="34a853">
                <a:alpha val="33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: Продать по брони"/>
          <p:cNvSpPr/>
          <p:nvPr/>
        </p:nvSpPr>
        <p:spPr>
          <a:xfrm>
            <a:off x="946080" y="2362320"/>
            <a:ext cx="18230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</a:pPr>
            <a:r>
              <a:rPr b="1" lang="en-US" sz="1600" spc="-4" strike="noStrike">
                <a:solidFill>
                  <a:srgbClr val="1e7e34"/>
                </a:solidFill>
                <a:latin typeface="Segoe UI"/>
                <a:ea typeface="Segoe UI"/>
              </a:rPr>
              <a:t>Продать по брони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: Товар уходит покупателю. Расход использу"/>
          <p:cNvSpPr/>
          <p:nvPr/>
        </p:nvSpPr>
        <p:spPr>
          <a:xfrm>
            <a:off x="946080" y="2774880"/>
            <a:ext cx="402408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</a:pPr>
            <a:r>
              <a:rPr b="0" lang="en-US" sz="1300" spc="-4" strike="noStrike">
                <a:solidFill>
                  <a:srgbClr val="5f6368"/>
                </a:solidFill>
                <a:latin typeface="Segoe UI"/>
                <a:ea typeface="Segoe UI"/>
              </a:rPr>
              <a:t>Товар уходит покупателю. Расход использует резерв.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Rounded Rectangle"/>
          <p:cNvSpPr/>
          <p:nvPr/>
        </p:nvSpPr>
        <p:spPr>
          <a:xfrm>
            <a:off x="949320" y="3165480"/>
            <a:ext cx="4806720" cy="958320"/>
          </a:xfrm>
          <a:prstGeom prst="roundRect">
            <a:avLst>
              <a:gd name="adj" fmla="val 10265"/>
            </a:avLst>
          </a:prstGeom>
          <a:solidFill>
            <a:srgbClr val="ffffff"/>
          </a:solidFill>
          <a:ln w="6350">
            <a:solidFill>
              <a:srgbClr val="e8eae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: Склад"/>
          <p:cNvSpPr/>
          <p:nvPr/>
        </p:nvSpPr>
        <p:spPr>
          <a:xfrm>
            <a:off x="1104840" y="3295800"/>
            <a:ext cx="4856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</a:pPr>
            <a:r>
              <a:rPr b="1" lang="en-US" sz="1300" spc="-4" strike="noStrike">
                <a:solidFill>
                  <a:srgbClr val="1a73e8"/>
                </a:solidFill>
                <a:latin typeface="Segoe UI"/>
                <a:ea typeface="Segoe UI"/>
              </a:rPr>
              <a:t>Склад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: Резерв"/>
          <p:cNvSpPr/>
          <p:nvPr/>
        </p:nvSpPr>
        <p:spPr>
          <a:xfrm>
            <a:off x="3222360" y="3295800"/>
            <a:ext cx="5493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1950"/>
              </a:lnSpc>
            </a:pPr>
            <a:r>
              <a:rPr b="1" lang="en-US" sz="1300" spc="-4" strike="noStrike">
                <a:solidFill>
                  <a:srgbClr val="1a73e8"/>
                </a:solidFill>
                <a:latin typeface="Segoe UI"/>
                <a:ea typeface="Segoe UI"/>
              </a:rPr>
              <a:t>Резерв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: Свободно"/>
          <p:cNvSpPr/>
          <p:nvPr/>
        </p:nvSpPr>
        <p:spPr>
          <a:xfrm>
            <a:off x="4241880" y="3295800"/>
            <a:ext cx="7995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1950"/>
              </a:lnSpc>
            </a:pPr>
            <a:r>
              <a:rPr b="1" lang="en-US" sz="1300" spc="-4" strike="noStrike">
                <a:solidFill>
                  <a:srgbClr val="1a73e8"/>
                </a:solidFill>
                <a:latin typeface="Segoe UI"/>
                <a:ea typeface="Segoe UI"/>
              </a:rPr>
              <a:t>Свободно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: 55"/>
          <p:cNvSpPr/>
          <p:nvPr/>
        </p:nvSpPr>
        <p:spPr>
          <a:xfrm>
            <a:off x="1104840" y="3720960"/>
            <a:ext cx="176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</a:pPr>
            <a:r>
              <a:rPr b="0" lang="en-US" sz="1300" spc="-4" strike="noStrike">
                <a:solidFill>
                  <a:srgbClr val="202124"/>
                </a:solidFill>
                <a:latin typeface="Segoe UI"/>
                <a:ea typeface="Segoe UI"/>
              </a:rPr>
              <a:t>55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: 0"/>
          <p:cNvSpPr/>
          <p:nvPr/>
        </p:nvSpPr>
        <p:spPr>
          <a:xfrm>
            <a:off x="3683520" y="3720960"/>
            <a:ext cx="8820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1950"/>
              </a:lnSpc>
            </a:pPr>
            <a:r>
              <a:rPr b="0" lang="en-US" sz="1300" spc="-4" strike="noStrike">
                <a:solidFill>
                  <a:srgbClr val="202124"/>
                </a:solidFill>
                <a:latin typeface="Segoe UI"/>
                <a:ea typeface="Segoe UI"/>
              </a:rPr>
              <a:t>0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: 55"/>
          <p:cNvSpPr/>
          <p:nvPr/>
        </p:nvSpPr>
        <p:spPr>
          <a:xfrm>
            <a:off x="4865040" y="3720960"/>
            <a:ext cx="176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1950"/>
              </a:lnSpc>
            </a:pPr>
            <a:r>
              <a:rPr b="0" lang="en-US" sz="1300" spc="-4" strike="noStrike">
                <a:solidFill>
                  <a:srgbClr val="202124"/>
                </a:solidFill>
                <a:latin typeface="Segoe UI"/>
                <a:ea typeface="Segoe UI"/>
              </a:rPr>
              <a:t>55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Rounded Rectangle"/>
          <p:cNvSpPr/>
          <p:nvPr/>
        </p:nvSpPr>
        <p:spPr>
          <a:xfrm>
            <a:off x="6251400" y="2200320"/>
            <a:ext cx="5175000" cy="2107800"/>
          </a:xfrm>
          <a:prstGeom prst="roundRect">
            <a:avLst>
              <a:gd name="adj" fmla="val 7078"/>
            </a:avLst>
          </a:prstGeom>
          <a:solidFill>
            <a:srgbClr val="fffbf0"/>
          </a:solidFill>
          <a:ln w="6350">
            <a:solidFill>
              <a:srgbClr val="fbbc04">
                <a:alpha val="47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: Отменить бронь"/>
          <p:cNvSpPr/>
          <p:nvPr/>
        </p:nvSpPr>
        <p:spPr>
          <a:xfrm>
            <a:off x="6432480" y="2362320"/>
            <a:ext cx="1632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</a:pPr>
            <a:r>
              <a:rPr b="1" lang="en-US" sz="1600" spc="-4" strike="noStrike">
                <a:solidFill>
                  <a:srgbClr val="9a6b00"/>
                </a:solidFill>
                <a:latin typeface="Segoe UI"/>
                <a:ea typeface="Segoe UI"/>
              </a:rPr>
              <a:t>Отменить бронь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: Товар остаётся на складе. Всё количество"/>
          <p:cNvSpPr/>
          <p:nvPr/>
        </p:nvSpPr>
        <p:spPr>
          <a:xfrm>
            <a:off x="6432480" y="2774880"/>
            <a:ext cx="443628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</a:pPr>
            <a:r>
              <a:rPr b="0" lang="en-US" sz="1300" spc="-4" strike="noStrike">
                <a:solidFill>
                  <a:srgbClr val="5f6368"/>
                </a:solidFill>
                <a:latin typeface="Segoe UI"/>
                <a:ea typeface="Segoe UI"/>
              </a:rPr>
              <a:t>Товар остаётся на складе. Всё количество снова свободно.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Rounded Rectangle"/>
          <p:cNvSpPr/>
          <p:nvPr/>
        </p:nvSpPr>
        <p:spPr>
          <a:xfrm>
            <a:off x="6435720" y="3165480"/>
            <a:ext cx="4806720" cy="958320"/>
          </a:xfrm>
          <a:prstGeom prst="roundRect">
            <a:avLst>
              <a:gd name="adj" fmla="val 10265"/>
            </a:avLst>
          </a:prstGeom>
          <a:solidFill>
            <a:srgbClr val="ffffff"/>
          </a:solidFill>
          <a:ln w="6350">
            <a:solidFill>
              <a:srgbClr val="e8eae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: Склад"/>
          <p:cNvSpPr/>
          <p:nvPr/>
        </p:nvSpPr>
        <p:spPr>
          <a:xfrm>
            <a:off x="6591240" y="3295800"/>
            <a:ext cx="4856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</a:pPr>
            <a:r>
              <a:rPr b="1" lang="en-US" sz="1300" spc="-4" strike="noStrike">
                <a:solidFill>
                  <a:srgbClr val="1a73e8"/>
                </a:solidFill>
                <a:latin typeface="Segoe UI"/>
                <a:ea typeface="Segoe UI"/>
              </a:rPr>
              <a:t>Склад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: Резерв"/>
          <p:cNvSpPr/>
          <p:nvPr/>
        </p:nvSpPr>
        <p:spPr>
          <a:xfrm>
            <a:off x="8708760" y="3295800"/>
            <a:ext cx="5493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1950"/>
              </a:lnSpc>
            </a:pPr>
            <a:r>
              <a:rPr b="1" lang="en-US" sz="1300" spc="-4" strike="noStrike">
                <a:solidFill>
                  <a:srgbClr val="1a73e8"/>
                </a:solidFill>
                <a:latin typeface="Segoe UI"/>
                <a:ea typeface="Segoe UI"/>
              </a:rPr>
              <a:t>Резерв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: Свободно"/>
          <p:cNvSpPr/>
          <p:nvPr/>
        </p:nvSpPr>
        <p:spPr>
          <a:xfrm>
            <a:off x="9728280" y="3295800"/>
            <a:ext cx="7995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1950"/>
              </a:lnSpc>
            </a:pPr>
            <a:r>
              <a:rPr b="1" lang="en-US" sz="1300" spc="-4" strike="noStrike">
                <a:solidFill>
                  <a:srgbClr val="1a73e8"/>
                </a:solidFill>
                <a:latin typeface="Segoe UI"/>
                <a:ea typeface="Segoe UI"/>
              </a:rPr>
              <a:t>Свободно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: 75"/>
          <p:cNvSpPr/>
          <p:nvPr/>
        </p:nvSpPr>
        <p:spPr>
          <a:xfrm>
            <a:off x="6591240" y="3720960"/>
            <a:ext cx="176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</a:pPr>
            <a:r>
              <a:rPr b="0" lang="en-US" sz="1300" spc="-4" strike="noStrike">
                <a:solidFill>
                  <a:srgbClr val="202124"/>
                </a:solidFill>
                <a:latin typeface="Segoe UI"/>
                <a:ea typeface="Segoe UI"/>
              </a:rPr>
              <a:t>75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: 0"/>
          <p:cNvSpPr/>
          <p:nvPr/>
        </p:nvSpPr>
        <p:spPr>
          <a:xfrm>
            <a:off x="9169920" y="3720960"/>
            <a:ext cx="8820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1950"/>
              </a:lnSpc>
            </a:pPr>
            <a:r>
              <a:rPr b="0" lang="en-US" sz="1300" spc="-4" strike="noStrike">
                <a:solidFill>
                  <a:srgbClr val="202124"/>
                </a:solidFill>
                <a:latin typeface="Segoe UI"/>
                <a:ea typeface="Segoe UI"/>
              </a:rPr>
              <a:t>0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: 75"/>
          <p:cNvSpPr/>
          <p:nvPr/>
        </p:nvSpPr>
        <p:spPr>
          <a:xfrm>
            <a:off x="10351440" y="3720960"/>
            <a:ext cx="176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1950"/>
              </a:lnSpc>
            </a:pPr>
            <a:r>
              <a:rPr b="0" lang="en-US" sz="1300" spc="-4" strike="noStrike">
                <a:solidFill>
                  <a:srgbClr val="202124"/>
                </a:solidFill>
                <a:latin typeface="Segoe UI"/>
                <a:ea typeface="Segoe UI"/>
              </a:rPr>
              <a:t>75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: Это альтернативные исходы одной брони — "/>
          <p:cNvSpPr/>
          <p:nvPr/>
        </p:nvSpPr>
        <p:spPr>
          <a:xfrm>
            <a:off x="762120" y="4451400"/>
            <a:ext cx="5395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</a:pPr>
            <a:r>
              <a:rPr b="0" lang="en-US" sz="1200" spc="-4" strike="noStrike">
                <a:solidFill>
                  <a:srgbClr val="5f6368"/>
                </a:solidFill>
                <a:latin typeface="Segoe UI"/>
                <a:ea typeface="Segoe UI"/>
              </a:rPr>
              <a:t>Это альтернативные исходы одной брони — повторная продажа запрещена.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: Молочная ферма Луговая"/>
          <p:cNvSpPr/>
          <p:nvPr/>
        </p:nvSpPr>
        <p:spPr>
          <a:xfrm>
            <a:off x="914400" y="6273720"/>
            <a:ext cx="1509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</a:pPr>
            <a:r>
              <a:rPr b="0" lang="en-US" sz="1000" spc="-4" strike="noStrike">
                <a:solidFill>
                  <a:srgbClr val="5f6368"/>
                </a:solidFill>
                <a:latin typeface="Segoe UI"/>
                <a:ea typeface="Segoe UI"/>
              </a:rPr>
              <a:t>Молочная ферма Луговая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Ellipse"/>
          <p:cNvSpPr/>
          <p:nvPr/>
        </p:nvSpPr>
        <p:spPr>
          <a:xfrm>
            <a:off x="762120" y="6343560"/>
            <a:ext cx="75960" cy="75960"/>
          </a:xfrm>
          <a:prstGeom prst="ellipse">
            <a:avLst/>
          </a:prstGeom>
          <a:solidFill>
            <a:srgbClr val="1a73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: 8 / 11"/>
          <p:cNvSpPr/>
          <p:nvPr/>
        </p:nvSpPr>
        <p:spPr>
          <a:xfrm>
            <a:off x="11108520" y="6273720"/>
            <a:ext cx="321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</a:pPr>
            <a:r>
              <a:rPr b="0" lang="en-US" sz="1000" spc="-4" strike="noStrike">
                <a:solidFill>
                  <a:srgbClr val="5f6368"/>
                </a:solidFill>
                <a:latin typeface="Segoe UI"/>
                <a:ea typeface="Segoe UI"/>
              </a:rPr>
              <a:t>8 / 11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Rounded Rectangle"/>
          <p:cNvSpPr/>
          <p:nvPr/>
        </p:nvSpPr>
        <p:spPr>
          <a:xfrm>
            <a:off x="762120" y="635040"/>
            <a:ext cx="638280" cy="2725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: Доступ"/>
          <p:cNvSpPr/>
          <p:nvPr/>
        </p:nvSpPr>
        <p:spPr>
          <a:xfrm>
            <a:off x="876240" y="673200"/>
            <a:ext cx="4096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</a:pPr>
            <a:r>
              <a:rPr b="1" lang="en-US" sz="900" spc="35" strike="noStrike">
                <a:solidFill>
                  <a:srgbClr val="ffffff"/>
                </a:solidFill>
                <a:latin typeface="Segoe UI"/>
                <a:ea typeface="Segoe UI"/>
              </a:rPr>
              <a:t>Доступ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: Роли и доступ к операциям"/>
          <p:cNvSpPr/>
          <p:nvPr/>
        </p:nvSpPr>
        <p:spPr>
          <a:xfrm>
            <a:off x="762120" y="984240"/>
            <a:ext cx="553788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</a:pPr>
            <a:r>
              <a:rPr b="1" lang="en-US" sz="3200" spc="-4" strike="noStrike">
                <a:solidFill>
                  <a:srgbClr val="202124"/>
                </a:solidFill>
                <a:latin typeface="Arial"/>
                <a:ea typeface="Arial"/>
              </a:rPr>
              <a:t>Роли и доступ к операциям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Rounded Rectangle"/>
          <p:cNvSpPr/>
          <p:nvPr/>
        </p:nvSpPr>
        <p:spPr>
          <a:xfrm>
            <a:off x="765000" y="1927080"/>
            <a:ext cx="10661400" cy="2596680"/>
          </a:xfrm>
          <a:prstGeom prst="roundRect">
            <a:avLst>
              <a:gd name="adj" fmla="val 5746"/>
            </a:avLst>
          </a:prstGeom>
          <a:solidFill>
            <a:srgbClr val="f7f9fc"/>
          </a:solidFill>
          <a:ln w="6350">
            <a:solidFill>
              <a:srgbClr val="e8eae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Border"/>
          <p:cNvSpPr/>
          <p:nvPr/>
        </p:nvSpPr>
        <p:spPr>
          <a:xfrm>
            <a:off x="996840" y="2457360"/>
            <a:ext cx="10197720" cy="6120"/>
          </a:xfrm>
          <a:prstGeom prst="rect">
            <a:avLst/>
          </a:prstGeom>
          <a:solidFill>
            <a:srgbClr val="e8e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8520" bIns="-3852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: Возможность"/>
          <p:cNvSpPr/>
          <p:nvPr/>
        </p:nvSpPr>
        <p:spPr>
          <a:xfrm>
            <a:off x="996840" y="2082960"/>
            <a:ext cx="10951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</a:pPr>
            <a:r>
              <a:rPr b="1" lang="en-US" sz="1300" spc="-4" strike="noStrike">
                <a:solidFill>
                  <a:srgbClr val="1a73e8"/>
                </a:solidFill>
                <a:latin typeface="Segoe UI"/>
                <a:ea typeface="Segoe UI"/>
              </a:rPr>
              <a:t>Возможность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: Покупка"/>
          <p:cNvSpPr/>
          <p:nvPr/>
        </p:nvSpPr>
        <p:spPr>
          <a:xfrm>
            <a:off x="4590360" y="2082960"/>
            <a:ext cx="68688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1950"/>
              </a:lnSpc>
            </a:pPr>
            <a:r>
              <a:rPr b="1" lang="en-US" sz="1300" spc="-4" strike="noStrike">
                <a:solidFill>
                  <a:srgbClr val="1a73e8"/>
                </a:solidFill>
                <a:latin typeface="Segoe UI"/>
                <a:ea typeface="Segoe UI"/>
              </a:rPr>
              <a:t>Покупка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: Продажа"/>
          <p:cNvSpPr/>
          <p:nvPr/>
        </p:nvSpPr>
        <p:spPr>
          <a:xfrm>
            <a:off x="5831640" y="2082960"/>
            <a:ext cx="7441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1950"/>
              </a:lnSpc>
            </a:pPr>
            <a:r>
              <a:rPr b="1" lang="en-US" sz="1300" spc="-4" strike="noStrike">
                <a:solidFill>
                  <a:srgbClr val="1a73e8"/>
                </a:solidFill>
                <a:latin typeface="Segoe UI"/>
                <a:ea typeface="Segoe UI"/>
              </a:rPr>
              <a:t>Продажа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: Полные права"/>
          <p:cNvSpPr/>
          <p:nvPr/>
        </p:nvSpPr>
        <p:spPr>
          <a:xfrm>
            <a:off x="6890760" y="2082960"/>
            <a:ext cx="11660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1950"/>
              </a:lnSpc>
            </a:pPr>
            <a:r>
              <a:rPr b="1" lang="en-US" sz="1300" spc="-4" strike="noStrike">
                <a:solidFill>
                  <a:srgbClr val="1a73e8"/>
                </a:solidFill>
                <a:latin typeface="Segoe UI"/>
                <a:ea typeface="Segoe UI"/>
              </a:rPr>
              <a:t>Полные права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Border"/>
          <p:cNvSpPr/>
          <p:nvPr/>
        </p:nvSpPr>
        <p:spPr>
          <a:xfrm>
            <a:off x="996840" y="2959200"/>
            <a:ext cx="10197720" cy="6120"/>
          </a:xfrm>
          <a:prstGeom prst="rect">
            <a:avLst/>
          </a:prstGeom>
          <a:solidFill>
            <a:srgbClr val="e8e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8520" bIns="-3852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: Поступления"/>
          <p:cNvSpPr/>
          <p:nvPr/>
        </p:nvSpPr>
        <p:spPr>
          <a:xfrm>
            <a:off x="996840" y="2558880"/>
            <a:ext cx="10508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Поступления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: Да"/>
          <p:cNvSpPr/>
          <p:nvPr/>
        </p:nvSpPr>
        <p:spPr>
          <a:xfrm>
            <a:off x="4827600" y="2558880"/>
            <a:ext cx="2124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Да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: Нет"/>
          <p:cNvSpPr/>
          <p:nvPr/>
        </p:nvSpPr>
        <p:spPr>
          <a:xfrm>
            <a:off x="6058440" y="2558880"/>
            <a:ext cx="2905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Нет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: Да"/>
          <p:cNvSpPr/>
          <p:nvPr/>
        </p:nvSpPr>
        <p:spPr>
          <a:xfrm>
            <a:off x="7367400" y="2558880"/>
            <a:ext cx="2124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Да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Border"/>
          <p:cNvSpPr/>
          <p:nvPr/>
        </p:nvSpPr>
        <p:spPr>
          <a:xfrm>
            <a:off x="996840" y="3460680"/>
            <a:ext cx="10197720" cy="6120"/>
          </a:xfrm>
          <a:prstGeom prst="rect">
            <a:avLst/>
          </a:prstGeom>
          <a:solidFill>
            <a:srgbClr val="e8e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8520" bIns="-3852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: Изменение цен"/>
          <p:cNvSpPr/>
          <p:nvPr/>
        </p:nvSpPr>
        <p:spPr>
          <a:xfrm>
            <a:off x="996840" y="3060720"/>
            <a:ext cx="12690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Изменение цен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: Да"/>
          <p:cNvSpPr/>
          <p:nvPr/>
        </p:nvSpPr>
        <p:spPr>
          <a:xfrm>
            <a:off x="4827600" y="3060720"/>
            <a:ext cx="2124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Да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: Нет"/>
          <p:cNvSpPr/>
          <p:nvPr/>
        </p:nvSpPr>
        <p:spPr>
          <a:xfrm>
            <a:off x="6058440" y="3060720"/>
            <a:ext cx="2905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Нет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: Да"/>
          <p:cNvSpPr/>
          <p:nvPr/>
        </p:nvSpPr>
        <p:spPr>
          <a:xfrm>
            <a:off x="7367400" y="3060720"/>
            <a:ext cx="2124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Да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Border"/>
          <p:cNvSpPr/>
          <p:nvPr/>
        </p:nvSpPr>
        <p:spPr>
          <a:xfrm>
            <a:off x="996840" y="3962520"/>
            <a:ext cx="10197720" cy="6120"/>
          </a:xfrm>
          <a:prstGeom prst="rect">
            <a:avLst/>
          </a:prstGeom>
          <a:solidFill>
            <a:srgbClr val="e8e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8520" bIns="-3852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: Продажи и брони"/>
          <p:cNvSpPr/>
          <p:nvPr/>
        </p:nvSpPr>
        <p:spPr>
          <a:xfrm>
            <a:off x="996840" y="3562200"/>
            <a:ext cx="14695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Продажи и брони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: Нет"/>
          <p:cNvSpPr/>
          <p:nvPr/>
        </p:nvSpPr>
        <p:spPr>
          <a:xfrm>
            <a:off x="4788720" y="3562200"/>
            <a:ext cx="2905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Нет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: Да"/>
          <p:cNvSpPr/>
          <p:nvPr/>
        </p:nvSpPr>
        <p:spPr>
          <a:xfrm>
            <a:off x="6097320" y="3562200"/>
            <a:ext cx="2124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Да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: Да"/>
          <p:cNvSpPr/>
          <p:nvPr/>
        </p:nvSpPr>
        <p:spPr>
          <a:xfrm>
            <a:off x="7367400" y="3562200"/>
            <a:ext cx="2124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Да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Border"/>
          <p:cNvSpPr/>
          <p:nvPr/>
        </p:nvSpPr>
        <p:spPr>
          <a:xfrm>
            <a:off x="996840" y="4464000"/>
            <a:ext cx="10197720" cy="6120"/>
          </a:xfrm>
          <a:prstGeom prst="rect">
            <a:avLst/>
          </a:prstGeom>
          <a:solidFill>
            <a:srgbClr val="e8e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8520" bIns="-3852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: Просмотр остатков"/>
          <p:cNvSpPr/>
          <p:nvPr/>
        </p:nvSpPr>
        <p:spPr>
          <a:xfrm>
            <a:off x="996840" y="4064040"/>
            <a:ext cx="15732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Просмотр остатков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: Да"/>
          <p:cNvSpPr/>
          <p:nvPr/>
        </p:nvSpPr>
        <p:spPr>
          <a:xfrm>
            <a:off x="4827600" y="4064040"/>
            <a:ext cx="2124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Да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: Да"/>
          <p:cNvSpPr/>
          <p:nvPr/>
        </p:nvSpPr>
        <p:spPr>
          <a:xfrm>
            <a:off x="6097320" y="4064040"/>
            <a:ext cx="2124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Да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: Да"/>
          <p:cNvSpPr/>
          <p:nvPr/>
        </p:nvSpPr>
        <p:spPr>
          <a:xfrm>
            <a:off x="7367400" y="4064040"/>
            <a:ext cx="2124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Да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: Система проверяет обязательные поля, пол"/>
          <p:cNvSpPr/>
          <p:nvPr/>
        </p:nvSpPr>
        <p:spPr>
          <a:xfrm>
            <a:off x="762120" y="4718160"/>
            <a:ext cx="577728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</a:pPr>
            <a:r>
              <a:rPr b="0" lang="en-US" sz="1300" spc="-4" strike="noStrike">
                <a:solidFill>
                  <a:srgbClr val="5f6368"/>
                </a:solidFill>
                <a:latin typeface="Segoe UI"/>
                <a:ea typeface="Segoe UI"/>
              </a:rPr>
              <a:t>Система проверяет обязательные поля, положительные цены и количество.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: Молочная ферма Луговая"/>
          <p:cNvSpPr/>
          <p:nvPr/>
        </p:nvSpPr>
        <p:spPr>
          <a:xfrm>
            <a:off x="914400" y="6273720"/>
            <a:ext cx="1509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</a:pPr>
            <a:r>
              <a:rPr b="0" lang="en-US" sz="1000" spc="-4" strike="noStrike">
                <a:solidFill>
                  <a:srgbClr val="5f6368"/>
                </a:solidFill>
                <a:latin typeface="Segoe UI"/>
                <a:ea typeface="Segoe UI"/>
              </a:rPr>
              <a:t>Молочная ферма Луговая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Ellipse"/>
          <p:cNvSpPr/>
          <p:nvPr/>
        </p:nvSpPr>
        <p:spPr>
          <a:xfrm>
            <a:off x="762120" y="6343560"/>
            <a:ext cx="75960" cy="75960"/>
          </a:xfrm>
          <a:prstGeom prst="ellipse">
            <a:avLst/>
          </a:prstGeom>
          <a:solidFill>
            <a:srgbClr val="1a73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: 9 / 11"/>
          <p:cNvSpPr/>
          <p:nvPr/>
        </p:nvSpPr>
        <p:spPr>
          <a:xfrm>
            <a:off x="11108520" y="6273720"/>
            <a:ext cx="321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</a:pPr>
            <a:r>
              <a:rPr b="0" lang="en-US" sz="1000" spc="-4" strike="noStrike">
                <a:solidFill>
                  <a:srgbClr val="5f6368"/>
                </a:solidFill>
                <a:latin typeface="Segoe UI"/>
                <a:ea typeface="Segoe UI"/>
              </a:rPr>
              <a:t>9 / 11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Rounded Rectangle"/>
          <p:cNvSpPr/>
          <p:nvPr/>
        </p:nvSpPr>
        <p:spPr>
          <a:xfrm>
            <a:off x="762120" y="635040"/>
            <a:ext cx="754560" cy="27252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: Качество"/>
          <p:cNvSpPr/>
          <p:nvPr/>
        </p:nvSpPr>
        <p:spPr>
          <a:xfrm>
            <a:off x="876240" y="673200"/>
            <a:ext cx="5259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</a:pPr>
            <a:r>
              <a:rPr b="1" lang="en-US" sz="900" spc="35" strike="noStrike">
                <a:solidFill>
                  <a:srgbClr val="ffffff"/>
                </a:solidFill>
                <a:latin typeface="Segoe UI"/>
                <a:ea typeface="Segoe UI"/>
              </a:rPr>
              <a:t>Качество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: Проверка конфигурации"/>
          <p:cNvSpPr/>
          <p:nvPr/>
        </p:nvSpPr>
        <p:spPr>
          <a:xfrm>
            <a:off x="762120" y="984240"/>
            <a:ext cx="4949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</a:pPr>
            <a:r>
              <a:rPr b="1" lang="en-US" sz="3200" spc="-4" strike="noStrike">
                <a:solidFill>
                  <a:srgbClr val="202124"/>
                </a:solidFill>
                <a:latin typeface="Arial"/>
                <a:ea typeface="Arial"/>
              </a:rPr>
              <a:t>Проверка конфигурации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: 83"/>
          <p:cNvSpPr/>
          <p:nvPr/>
        </p:nvSpPr>
        <p:spPr>
          <a:xfrm>
            <a:off x="762120" y="2101680"/>
            <a:ext cx="1198440" cy="10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8501"/>
              </a:lnSpc>
            </a:pPr>
            <a:r>
              <a:rPr b="1" lang="en-US" sz="8500" spc="-171" strike="noStrike">
                <a:solidFill>
                  <a:srgbClr val="1a73e8"/>
                </a:solidFill>
                <a:latin typeface="Segoe UI"/>
                <a:ea typeface="Segoe UI"/>
              </a:rPr>
              <a:t>83</a:t>
            </a:r>
            <a:endParaRPr b="0" lang="ru-RU" sz="8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: успешных автоматических проверок"/>
          <p:cNvSpPr/>
          <p:nvPr/>
        </p:nvSpPr>
        <p:spPr>
          <a:xfrm>
            <a:off x="762120" y="3072240"/>
            <a:ext cx="1294920" cy="74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9"/>
              </a:lnSpc>
            </a:pPr>
            <a:r>
              <a:rPr b="0" lang="en-US" sz="1400" spc="-4" strike="noStrike">
                <a:solidFill>
                  <a:srgbClr val="5f6368"/>
                </a:solidFill>
                <a:latin typeface="Segoe UI"/>
                <a:ea typeface="Segoe UI"/>
              </a:rPr>
              <a:t>успешных</a:t>
            </a:r>
            <a:br>
              <a:rPr sz="1400"/>
            </a:br>
            <a:r>
              <a:rPr b="0" lang="en-US" sz="1400" spc="-4" strike="noStrike">
                <a:solidFill>
                  <a:srgbClr val="5f6368"/>
                </a:solidFill>
                <a:latin typeface="Segoe UI"/>
                <a:ea typeface="Segoe UI"/>
              </a:rPr>
              <a:t>автоматических</a:t>
            </a:r>
            <a:br>
              <a:rPr sz="1400"/>
            </a:br>
            <a:r>
              <a:rPr b="0" lang="en-US" sz="1400" spc="-4" strike="noStrike">
                <a:solidFill>
                  <a:srgbClr val="5f6368"/>
                </a:solidFill>
                <a:latin typeface="Segoe UI"/>
                <a:ea typeface="Segoe UI"/>
              </a:rPr>
              <a:t>проверок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Rounded Rectangle"/>
          <p:cNvSpPr/>
          <p:nvPr/>
        </p:nvSpPr>
        <p:spPr>
          <a:xfrm>
            <a:off x="5221800" y="1927080"/>
            <a:ext cx="6204600" cy="1993680"/>
          </a:xfrm>
          <a:prstGeom prst="roundRect">
            <a:avLst>
              <a:gd name="adj" fmla="val 7484"/>
            </a:avLst>
          </a:prstGeom>
          <a:solidFill>
            <a:srgbClr val="f7f9fc"/>
          </a:solidFill>
          <a:ln w="6350">
            <a:solidFill>
              <a:srgbClr val="e8eae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Border"/>
          <p:cNvSpPr/>
          <p:nvPr/>
        </p:nvSpPr>
        <p:spPr>
          <a:xfrm>
            <a:off x="5453640" y="2432160"/>
            <a:ext cx="5741280" cy="6120"/>
          </a:xfrm>
          <a:prstGeom prst="rect">
            <a:avLst/>
          </a:prstGeom>
          <a:solidFill>
            <a:srgbClr val="e8e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8520" bIns="-3852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: Группа"/>
          <p:cNvSpPr/>
          <p:nvPr/>
        </p:nvSpPr>
        <p:spPr>
          <a:xfrm>
            <a:off x="5453640" y="2070000"/>
            <a:ext cx="55188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</a:pPr>
            <a:r>
              <a:rPr b="1" lang="en-US" sz="1300" spc="-4" strike="noStrike">
                <a:solidFill>
                  <a:srgbClr val="1a73e8"/>
                </a:solidFill>
                <a:latin typeface="Segoe UI"/>
                <a:ea typeface="Segoe UI"/>
              </a:rPr>
              <a:t>Группа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: Проверок"/>
          <p:cNvSpPr/>
          <p:nvPr/>
        </p:nvSpPr>
        <p:spPr>
          <a:xfrm>
            <a:off x="10388880" y="2070000"/>
            <a:ext cx="8060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1950"/>
              </a:lnSpc>
            </a:pPr>
            <a:r>
              <a:rPr b="1" lang="en-US" sz="1300" spc="-4" strike="noStrike">
                <a:solidFill>
                  <a:srgbClr val="1a73e8"/>
                </a:solidFill>
                <a:latin typeface="Segoe UI"/>
                <a:ea typeface="Segoe UI"/>
              </a:rPr>
              <a:t>Проверок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Border"/>
          <p:cNvSpPr/>
          <p:nvPr/>
        </p:nvSpPr>
        <p:spPr>
          <a:xfrm>
            <a:off x="5453640" y="2908440"/>
            <a:ext cx="5741280" cy="6120"/>
          </a:xfrm>
          <a:prstGeom prst="rect">
            <a:avLst/>
          </a:prstGeom>
          <a:solidFill>
            <a:srgbClr val="e8e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8520" bIns="-3852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: Учёт, формы и права"/>
          <p:cNvSpPr/>
          <p:nvPr/>
        </p:nvSpPr>
        <p:spPr>
          <a:xfrm>
            <a:off x="5453640" y="2521080"/>
            <a:ext cx="1709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Учёт, формы и права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: 49"/>
          <p:cNvSpPr/>
          <p:nvPr/>
        </p:nvSpPr>
        <p:spPr>
          <a:xfrm>
            <a:off x="11004480" y="2521080"/>
            <a:ext cx="1904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49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Border"/>
          <p:cNvSpPr/>
          <p:nvPr/>
        </p:nvSpPr>
        <p:spPr>
          <a:xfrm>
            <a:off x="5453640" y="3384720"/>
            <a:ext cx="5741280" cy="6120"/>
          </a:xfrm>
          <a:prstGeom prst="rect">
            <a:avLst/>
          </a:prstGeom>
          <a:solidFill>
            <a:srgbClr val="e8e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8520" bIns="-3852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: Бронирование"/>
          <p:cNvSpPr/>
          <p:nvPr/>
        </p:nvSpPr>
        <p:spPr>
          <a:xfrm>
            <a:off x="5453640" y="2997360"/>
            <a:ext cx="12020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Бронирование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: 28"/>
          <p:cNvSpPr/>
          <p:nvPr/>
        </p:nvSpPr>
        <p:spPr>
          <a:xfrm>
            <a:off x="11004480" y="2997360"/>
            <a:ext cx="1904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28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Border"/>
          <p:cNvSpPr/>
          <p:nvPr/>
        </p:nvSpPr>
        <p:spPr>
          <a:xfrm>
            <a:off x="5453640" y="3860640"/>
            <a:ext cx="5741280" cy="6120"/>
          </a:xfrm>
          <a:prstGeom prst="rect">
            <a:avLst/>
          </a:prstGeom>
          <a:solidFill>
            <a:srgbClr val="e8e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8520" bIns="-3852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: Новые команды формы"/>
          <p:cNvSpPr/>
          <p:nvPr/>
        </p:nvSpPr>
        <p:spPr>
          <a:xfrm>
            <a:off x="5453640" y="3473280"/>
            <a:ext cx="19468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Новые команды формы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: 6"/>
          <p:cNvSpPr/>
          <p:nvPr/>
        </p:nvSpPr>
        <p:spPr>
          <a:xfrm>
            <a:off x="11099880" y="3473280"/>
            <a:ext cx="950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100"/>
              </a:lnSpc>
            </a:pPr>
            <a:r>
              <a:rPr b="0" lang="en-US" sz="1400" spc="-4" strike="noStrike">
                <a:solidFill>
                  <a:srgbClr val="202124"/>
                </a:solidFill>
                <a:latin typeface="Segoe UI"/>
                <a:ea typeface="Segoe UI"/>
              </a:rPr>
              <a:t>6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: Сценарии повторены после восстановления "/>
          <p:cNvSpPr/>
          <p:nvPr/>
        </p:nvSpPr>
        <p:spPr>
          <a:xfrm>
            <a:off x="762120" y="4140360"/>
            <a:ext cx="658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</a:pPr>
            <a:r>
              <a:rPr b="0" lang="en-US" sz="1200" spc="-4" strike="noStrike">
                <a:solidFill>
                  <a:srgbClr val="5f6368"/>
                </a:solidFill>
                <a:latin typeface="Segoe UI"/>
                <a:ea typeface="Segoe UI"/>
              </a:rPr>
              <a:t>Сценарии повторены после восстановления базы из DT. Автоматические проверки вызывают</a:t>
            </a:r>
            <a:br>
              <a:rPr sz="1200"/>
            </a:br>
            <a:r>
              <a:rPr b="0" lang="en-US" sz="1200" spc="-4" strike="noStrike">
                <a:solidFill>
                  <a:srgbClr val="5f6368"/>
                </a:solidFill>
                <a:latin typeface="Segoe UI"/>
                <a:ea typeface="Segoe UI"/>
              </a:rPr>
              <a:t>обработчики программно; щелчки мышью и читаемость требуют ручной проверки.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: Молочная ферма Луговая"/>
          <p:cNvSpPr/>
          <p:nvPr/>
        </p:nvSpPr>
        <p:spPr>
          <a:xfrm>
            <a:off x="914400" y="6273720"/>
            <a:ext cx="1509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</a:pPr>
            <a:r>
              <a:rPr b="0" lang="en-US" sz="1000" spc="-4" strike="noStrike">
                <a:solidFill>
                  <a:srgbClr val="5f6368"/>
                </a:solidFill>
                <a:latin typeface="Segoe UI"/>
                <a:ea typeface="Segoe UI"/>
              </a:rPr>
              <a:t>Молочная ферма Луговая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Ellipse"/>
          <p:cNvSpPr/>
          <p:nvPr/>
        </p:nvSpPr>
        <p:spPr>
          <a:xfrm>
            <a:off x="762120" y="6343560"/>
            <a:ext cx="75960" cy="75960"/>
          </a:xfrm>
          <a:prstGeom prst="ellipse">
            <a:avLst/>
          </a:prstGeom>
          <a:solidFill>
            <a:srgbClr val="1a73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: 10 / 11"/>
          <p:cNvSpPr/>
          <p:nvPr/>
        </p:nvSpPr>
        <p:spPr>
          <a:xfrm>
            <a:off x="11040480" y="6273720"/>
            <a:ext cx="3891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</a:pPr>
            <a:r>
              <a:rPr b="0" lang="en-US" sz="1000" spc="-4" strike="noStrike">
                <a:solidFill>
                  <a:srgbClr val="5f6368"/>
                </a:solidFill>
                <a:latin typeface="Segoe UI"/>
                <a:ea typeface="Segoe UI"/>
              </a:rPr>
              <a:t>10 / 11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Rounded Rectangle"/>
          <p:cNvSpPr/>
          <p:nvPr/>
        </p:nvSpPr>
        <p:spPr>
          <a:xfrm>
            <a:off x="762120" y="635040"/>
            <a:ext cx="495000" cy="2725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: Итог"/>
          <p:cNvSpPr/>
          <p:nvPr/>
        </p:nvSpPr>
        <p:spPr>
          <a:xfrm>
            <a:off x="876240" y="673200"/>
            <a:ext cx="26640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</a:pPr>
            <a:r>
              <a:rPr b="1" lang="en-US" sz="900" spc="35" strike="noStrike">
                <a:solidFill>
                  <a:srgbClr val="ffffff"/>
                </a:solidFill>
                <a:latin typeface="Segoe UI"/>
                <a:ea typeface="Segoe UI"/>
              </a:rPr>
              <a:t>Итог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: Результат проекта и развитие"/>
          <p:cNvSpPr/>
          <p:nvPr/>
        </p:nvSpPr>
        <p:spPr>
          <a:xfrm>
            <a:off x="762120" y="984240"/>
            <a:ext cx="602208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</a:pPr>
            <a:r>
              <a:rPr b="1" lang="en-US" sz="3200" spc="-4" strike="noStrike">
                <a:solidFill>
                  <a:srgbClr val="202124"/>
                </a:solidFill>
                <a:latin typeface="Arial"/>
                <a:ea typeface="Arial"/>
              </a:rPr>
              <a:t>Результат проекта и развитие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Rounded Rectangle"/>
          <p:cNvSpPr/>
          <p:nvPr/>
        </p:nvSpPr>
        <p:spPr>
          <a:xfrm>
            <a:off x="765000" y="1927080"/>
            <a:ext cx="5225760" cy="1561680"/>
          </a:xfrm>
          <a:prstGeom prst="roundRect">
            <a:avLst>
              <a:gd name="adj" fmla="val 9553"/>
            </a:avLst>
          </a:prstGeom>
          <a:solidFill>
            <a:srgbClr val="f7f9fc"/>
          </a:solidFill>
          <a:ln w="6350">
            <a:solidFill>
              <a:srgbClr val="e8eae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Rounded Rectangle"/>
          <p:cNvSpPr/>
          <p:nvPr/>
        </p:nvSpPr>
        <p:spPr>
          <a:xfrm>
            <a:off x="996840" y="2158920"/>
            <a:ext cx="355320" cy="504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9000" bIns="-9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: Готовая система"/>
          <p:cNvSpPr/>
          <p:nvPr/>
        </p:nvSpPr>
        <p:spPr>
          <a:xfrm>
            <a:off x="996840" y="2343240"/>
            <a:ext cx="16362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</a:pPr>
            <a:r>
              <a:rPr b="1" lang="en-US" sz="1700" spc="-4" strike="noStrike">
                <a:solidFill>
                  <a:srgbClr val="202124"/>
                </a:solidFill>
                <a:latin typeface="Segoe UI"/>
                <a:ea typeface="Segoe UI"/>
              </a:rPr>
              <a:t>Готовая система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: Поступление и продажа продукции, хранени"/>
          <p:cNvSpPr/>
          <p:nvPr/>
        </p:nvSpPr>
        <p:spPr>
          <a:xfrm>
            <a:off x="996840" y="2749680"/>
            <a:ext cx="39589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</a:pPr>
            <a:r>
              <a:rPr b="0" lang="en-US" sz="1300" spc="-4" strike="noStrike">
                <a:solidFill>
                  <a:srgbClr val="5f6368"/>
                </a:solidFill>
                <a:latin typeface="Segoe UI"/>
                <a:ea typeface="Segoe UI"/>
              </a:rPr>
              <a:t>Поступление и продажа продукции, хранение цен и</a:t>
            </a:r>
            <a:br>
              <a:rPr sz="1300"/>
            </a:br>
            <a:r>
              <a:rPr b="0" lang="en-US" sz="1300" spc="-4" strike="noStrike">
                <a:solidFill>
                  <a:srgbClr val="5f6368"/>
                </a:solidFill>
                <a:latin typeface="Segoe UI"/>
                <a:ea typeface="Segoe UI"/>
              </a:rPr>
              <a:t>фотографий, отчёты и бронирование.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Rounded Rectangle"/>
          <p:cNvSpPr/>
          <p:nvPr/>
        </p:nvSpPr>
        <p:spPr>
          <a:xfrm>
            <a:off x="6200640" y="1927080"/>
            <a:ext cx="5225760" cy="1561680"/>
          </a:xfrm>
          <a:prstGeom prst="roundRect">
            <a:avLst>
              <a:gd name="adj" fmla="val 9553"/>
            </a:avLst>
          </a:prstGeom>
          <a:solidFill>
            <a:srgbClr val="f7f9fc"/>
          </a:solidFill>
          <a:ln w="6350">
            <a:solidFill>
              <a:srgbClr val="e8eae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Rounded Rectangle"/>
          <p:cNvSpPr/>
          <p:nvPr/>
        </p:nvSpPr>
        <p:spPr>
          <a:xfrm>
            <a:off x="6432480" y="2158920"/>
            <a:ext cx="355320" cy="504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9000" bIns="-9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: Материалы проекта"/>
          <p:cNvSpPr/>
          <p:nvPr/>
        </p:nvSpPr>
        <p:spPr>
          <a:xfrm>
            <a:off x="6432480" y="2343240"/>
            <a:ext cx="20448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</a:pPr>
            <a:r>
              <a:rPr b="1" lang="en-US" sz="1700" spc="-4" strike="noStrike">
                <a:solidFill>
                  <a:srgbClr val="202124"/>
                </a:solidFill>
                <a:latin typeface="Segoe UI"/>
                <a:ea typeface="Segoe UI"/>
              </a:rPr>
              <a:t>Материалы проекта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: База DT, конфигурация CF и исходники. От"/>
          <p:cNvSpPr/>
          <p:nvPr/>
        </p:nvSpPr>
        <p:spPr>
          <a:xfrm>
            <a:off x="6432480" y="2749680"/>
            <a:ext cx="472716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</a:pPr>
            <a:r>
              <a:rPr b="0" lang="en-US" sz="1300" spc="-4" strike="noStrike">
                <a:solidFill>
                  <a:srgbClr val="5f6368"/>
                </a:solidFill>
                <a:latin typeface="Segoe UI"/>
                <a:ea typeface="Segoe UI"/>
              </a:rPr>
              <a:t>База DT, конфигурация CF и исходники. Отдельные документы</a:t>
            </a:r>
            <a:br>
              <a:rPr sz="1300"/>
            </a:br>
            <a:r>
              <a:rPr b="0" lang="en-US" sz="1300" spc="-4" strike="noStrike">
                <a:solidFill>
                  <a:srgbClr val="5f6368"/>
                </a:solidFill>
                <a:latin typeface="Segoe UI"/>
                <a:ea typeface="Segoe UI"/>
              </a:rPr>
              <a:t>Word и презентация PowerPoint.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Rounded Rectangle"/>
          <p:cNvSpPr/>
          <p:nvPr/>
        </p:nvSpPr>
        <p:spPr>
          <a:xfrm>
            <a:off x="765000" y="3699000"/>
            <a:ext cx="5225760" cy="1561680"/>
          </a:xfrm>
          <a:prstGeom prst="roundRect">
            <a:avLst>
              <a:gd name="adj" fmla="val 9553"/>
            </a:avLst>
          </a:prstGeom>
          <a:solidFill>
            <a:srgbClr val="f7f9fc"/>
          </a:solidFill>
          <a:ln w="6350">
            <a:solidFill>
              <a:srgbClr val="e8eae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Rounded Rectangle"/>
          <p:cNvSpPr/>
          <p:nvPr/>
        </p:nvSpPr>
        <p:spPr>
          <a:xfrm>
            <a:off x="996840" y="3930480"/>
            <a:ext cx="355320" cy="5040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9000" bIns="-9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: Следующие доработки"/>
          <p:cNvSpPr/>
          <p:nvPr/>
        </p:nvSpPr>
        <p:spPr>
          <a:xfrm>
            <a:off x="996840" y="4114800"/>
            <a:ext cx="23504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</a:pPr>
            <a:r>
              <a:rPr b="1" lang="en-US" sz="1700" spc="-4" strike="noStrike">
                <a:solidFill>
                  <a:srgbClr val="202124"/>
                </a:solidFill>
                <a:latin typeface="Segoe UI"/>
                <a:ea typeface="Segoe UI"/>
              </a:rPr>
              <a:t>Следующие доработки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: Учёт партий и сроков годности. Частичная"/>
          <p:cNvSpPr/>
          <p:nvPr/>
        </p:nvSpPr>
        <p:spPr>
          <a:xfrm>
            <a:off x="996840" y="4521240"/>
            <a:ext cx="446796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</a:pPr>
            <a:r>
              <a:rPr b="0" lang="en-US" sz="1300" spc="-4" strike="noStrike">
                <a:solidFill>
                  <a:srgbClr val="5f6368"/>
                </a:solidFill>
                <a:latin typeface="Segoe UI"/>
                <a:ea typeface="Segoe UI"/>
              </a:rPr>
              <a:t>Учёт партий и сроков годности. Частичная продажа и срок</a:t>
            </a:r>
            <a:br>
              <a:rPr sz="1300"/>
            </a:br>
            <a:r>
              <a:rPr b="0" lang="en-US" sz="1300" spc="-4" strike="noStrike">
                <a:solidFill>
                  <a:srgbClr val="5f6368"/>
                </a:solidFill>
                <a:latin typeface="Segoe UI"/>
                <a:ea typeface="Segoe UI"/>
              </a:rPr>
              <a:t>действия брони.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Rounded Rectangle"/>
          <p:cNvSpPr/>
          <p:nvPr/>
        </p:nvSpPr>
        <p:spPr>
          <a:xfrm>
            <a:off x="6200640" y="3699000"/>
            <a:ext cx="5225760" cy="1561680"/>
          </a:xfrm>
          <a:prstGeom prst="roundRect">
            <a:avLst>
              <a:gd name="adj" fmla="val 9553"/>
            </a:avLst>
          </a:prstGeom>
          <a:solidFill>
            <a:srgbClr val="f7f9fc"/>
          </a:solidFill>
          <a:ln w="6350">
            <a:solidFill>
              <a:srgbClr val="e8eae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Rounded Rectangle"/>
          <p:cNvSpPr/>
          <p:nvPr/>
        </p:nvSpPr>
        <p:spPr>
          <a:xfrm>
            <a:off x="6432480" y="3930480"/>
            <a:ext cx="355320" cy="5040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9000" bIns="-9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: Границы версии"/>
          <p:cNvSpPr/>
          <p:nvPr/>
        </p:nvSpPr>
        <p:spPr>
          <a:xfrm>
            <a:off x="6432480" y="4114800"/>
            <a:ext cx="16624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</a:pPr>
            <a:r>
              <a:rPr b="1" lang="en-US" sz="1700" spc="-4" strike="noStrike">
                <a:solidFill>
                  <a:srgbClr val="202124"/>
                </a:solidFill>
                <a:latin typeface="Segoe UI"/>
                <a:ea typeface="Segoe UI"/>
              </a:rPr>
              <a:t>Границы версии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: Бронь продаётся целиком. Учебная лицензи"/>
          <p:cNvSpPr/>
          <p:nvPr/>
        </p:nvSpPr>
        <p:spPr>
          <a:xfrm>
            <a:off x="6432480" y="4521240"/>
            <a:ext cx="427788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</a:pPr>
            <a:r>
              <a:rPr b="0" lang="en-US" sz="1300" spc="-4" strike="noStrike">
                <a:solidFill>
                  <a:srgbClr val="5f6368"/>
                </a:solidFill>
                <a:latin typeface="Segoe UI"/>
                <a:ea typeface="Segoe UI"/>
              </a:rPr>
              <a:t>Бронь продаётся целиком. Учебная лицензия блокирует</a:t>
            </a:r>
            <a:br>
              <a:rPr sz="1300"/>
            </a:br>
            <a:r>
              <a:rPr b="0" lang="en-US" sz="1300" spc="-4" strike="noStrike">
                <a:solidFill>
                  <a:srgbClr val="5f6368"/>
                </a:solidFill>
                <a:latin typeface="Segoe UI"/>
                <a:ea typeface="Segoe UI"/>
              </a:rPr>
              <a:t>печать табличных документов.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: Молочная ферма Луговая"/>
          <p:cNvSpPr/>
          <p:nvPr/>
        </p:nvSpPr>
        <p:spPr>
          <a:xfrm>
            <a:off x="914400" y="6273720"/>
            <a:ext cx="1509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</a:pPr>
            <a:r>
              <a:rPr b="0" lang="en-US" sz="1000" spc="-4" strike="noStrike">
                <a:solidFill>
                  <a:srgbClr val="5f6368"/>
                </a:solidFill>
                <a:latin typeface="Segoe UI"/>
                <a:ea typeface="Segoe UI"/>
              </a:rPr>
              <a:t>Молочная ферма Луговая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Ellipse"/>
          <p:cNvSpPr/>
          <p:nvPr/>
        </p:nvSpPr>
        <p:spPr>
          <a:xfrm>
            <a:off x="762120" y="6343560"/>
            <a:ext cx="75960" cy="75960"/>
          </a:xfrm>
          <a:prstGeom prst="ellipse">
            <a:avLst/>
          </a:prstGeom>
          <a:solidFill>
            <a:srgbClr val="1a73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: 11 / 11"/>
          <p:cNvSpPr/>
          <p:nvPr/>
        </p:nvSpPr>
        <p:spPr>
          <a:xfrm>
            <a:off x="11040480" y="6273720"/>
            <a:ext cx="3891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</a:pPr>
            <a:r>
              <a:rPr b="0" lang="en-US" sz="1000" spc="-4" strike="noStrike">
                <a:solidFill>
                  <a:srgbClr val="5f6368"/>
                </a:solidFill>
                <a:latin typeface="Segoe UI"/>
                <a:ea typeface="Segoe UI"/>
              </a:rPr>
              <a:t>11 / 11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LibreOffice/7.6.4.1$Windows_X86_64 LibreOffice_project/e19e193f88cd6c0525a17fb7a176ed8e6a3e2aa1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ru-RU</dc:language>
  <cp:lastModifiedBy/>
  <dcterms:modified xsi:type="dcterms:W3CDTF">2026-10-29T02:42:46Z</dcterms:modified>
  <cp:revision>1</cp:revision>
  <dc:subject/>
  <dc:title/>
</cp:coreProperties>
</file>